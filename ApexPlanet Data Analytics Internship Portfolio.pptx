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0" r:id="rId4"/>
    <p:sldId id="261" r:id="rId5"/>
    <p:sldId id="262" r:id="rId6"/>
    <p:sldId id="263" r:id="rId7"/>
    <p:sldId id="264" r:id="rId8"/>
    <p:sldId id="265" r:id="rId9"/>
    <p:sldId id="266" r:id="rId10"/>
    <p:sldId id="267" r:id="rId11"/>
    <p:sldId id="258" r:id="rId12"/>
    <p:sldId id="25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1" d="100"/>
          <a:sy n="91" d="100"/>
        </p:scale>
        <p:origin x="1350" y="9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2" Type="http://schemas.openxmlformats.org/officeDocument/2006/relationships/hyperlink" Target="https://github.com/surendarsathish" TargetMode="External"/><Relationship Id="rId1" Type="http://schemas.openxmlformats.org/officeDocument/2006/relationships/hyperlink" Target="https://www.linkedin.com/in/surendar-sathish-2536b4317"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github.com/surendarsathish" TargetMode="External"/><Relationship Id="rId1" Type="http://schemas.openxmlformats.org/officeDocument/2006/relationships/hyperlink" Target="https://www.linkedin.com/in/surendar-sathish-2536b4317"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6AD426-C591-47AF-81A6-A62B841BDC88}"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B9773FF-A3C2-43FE-98CA-95F09135B5EB}">
      <dgm:prSet/>
      <dgm:spPr/>
      <dgm:t>
        <a:bodyPr/>
        <a:lstStyle/>
        <a:p>
          <a:r>
            <a:rPr lang="en-IN" b="1"/>
            <a:t>Surendar Sathish</a:t>
          </a:r>
          <a:br>
            <a:rPr lang="en-IN"/>
          </a:br>
          <a:r>
            <a:rPr lang="en-IN"/>
            <a:t>B.Tech CSE (AI &amp; ML)</a:t>
          </a:r>
          <a:br>
            <a:rPr lang="en-IN"/>
          </a:br>
          <a:r>
            <a:rPr lang="en-IN"/>
            <a:t>Aspiring Data Analyst</a:t>
          </a:r>
          <a:endParaRPr lang="en-US"/>
        </a:p>
      </dgm:t>
    </dgm:pt>
    <dgm:pt modelId="{7C0C41AE-60A6-402B-A342-B30F6369D010}" type="parTrans" cxnId="{578DD47C-4967-47FA-A829-F57271392A7B}">
      <dgm:prSet/>
      <dgm:spPr/>
      <dgm:t>
        <a:bodyPr/>
        <a:lstStyle/>
        <a:p>
          <a:endParaRPr lang="en-US"/>
        </a:p>
      </dgm:t>
    </dgm:pt>
    <dgm:pt modelId="{45387AAE-D181-4714-96B8-2B1CE87EB418}" type="sibTrans" cxnId="{578DD47C-4967-47FA-A829-F57271392A7B}">
      <dgm:prSet/>
      <dgm:spPr/>
      <dgm:t>
        <a:bodyPr/>
        <a:lstStyle/>
        <a:p>
          <a:endParaRPr lang="en-US"/>
        </a:p>
      </dgm:t>
    </dgm:pt>
    <dgm:pt modelId="{4A862069-CEFC-4638-81CC-AC1EE7C9EE4A}">
      <dgm:prSet/>
      <dgm:spPr/>
      <dgm:t>
        <a:bodyPr/>
        <a:lstStyle/>
        <a:p>
          <a:r>
            <a:rPr lang="en-IN" b="1"/>
            <a:t>LinkedIn:</a:t>
          </a:r>
          <a:r>
            <a:rPr lang="en-IN"/>
            <a:t> </a:t>
          </a:r>
          <a:r>
            <a:rPr lang="en-IN">
              <a:hlinkClick xmlns:r="http://schemas.openxmlformats.org/officeDocument/2006/relationships" r:id="rId1"/>
            </a:rPr>
            <a:t>https://www.linkedin.com/in/surendar-sathish-2536b4317</a:t>
          </a:r>
          <a:br>
            <a:rPr lang="en-IN"/>
          </a:br>
          <a:r>
            <a:rPr lang="en-IN" b="1"/>
            <a:t>GitHub:</a:t>
          </a:r>
          <a:r>
            <a:rPr lang="en-IN"/>
            <a:t> </a:t>
          </a:r>
          <a:r>
            <a:rPr lang="en-IN">
              <a:hlinkClick xmlns:r="http://schemas.openxmlformats.org/officeDocument/2006/relationships" r:id="rId2"/>
            </a:rPr>
            <a:t>https://github.com/surendarsathish</a:t>
          </a:r>
          <a:endParaRPr lang="en-US"/>
        </a:p>
      </dgm:t>
    </dgm:pt>
    <dgm:pt modelId="{AA272269-53EC-4109-A137-DB29B4CFA2DE}" type="parTrans" cxnId="{96CA65FA-3E7B-41E0-9E61-D658633A8157}">
      <dgm:prSet/>
      <dgm:spPr/>
      <dgm:t>
        <a:bodyPr/>
        <a:lstStyle/>
        <a:p>
          <a:endParaRPr lang="en-US"/>
        </a:p>
      </dgm:t>
    </dgm:pt>
    <dgm:pt modelId="{06391747-7AD0-441B-AF77-AF375E78EEC8}" type="sibTrans" cxnId="{96CA65FA-3E7B-41E0-9E61-D658633A8157}">
      <dgm:prSet/>
      <dgm:spPr/>
      <dgm:t>
        <a:bodyPr/>
        <a:lstStyle/>
        <a:p>
          <a:endParaRPr lang="en-US"/>
        </a:p>
      </dgm:t>
    </dgm:pt>
    <dgm:pt modelId="{BBCA3A1A-3A46-4CE0-AE0B-FCE421CC11A2}" type="pres">
      <dgm:prSet presAssocID="{E16AD426-C591-47AF-81A6-A62B841BDC88}" presName="hierChild1" presStyleCnt="0">
        <dgm:presLayoutVars>
          <dgm:chPref val="1"/>
          <dgm:dir/>
          <dgm:animOne val="branch"/>
          <dgm:animLvl val="lvl"/>
          <dgm:resizeHandles/>
        </dgm:presLayoutVars>
      </dgm:prSet>
      <dgm:spPr/>
    </dgm:pt>
    <dgm:pt modelId="{3A53A8AC-D075-4A2A-BF53-A011C1338887}" type="pres">
      <dgm:prSet presAssocID="{DB9773FF-A3C2-43FE-98CA-95F09135B5EB}" presName="hierRoot1" presStyleCnt="0"/>
      <dgm:spPr/>
    </dgm:pt>
    <dgm:pt modelId="{675B4FEB-19A0-41F2-A0D6-F13B2DCC501F}" type="pres">
      <dgm:prSet presAssocID="{DB9773FF-A3C2-43FE-98CA-95F09135B5EB}" presName="composite" presStyleCnt="0"/>
      <dgm:spPr/>
    </dgm:pt>
    <dgm:pt modelId="{4B9C1B1A-EB33-4130-ABF6-C1A17E9763FE}" type="pres">
      <dgm:prSet presAssocID="{DB9773FF-A3C2-43FE-98CA-95F09135B5EB}" presName="background" presStyleLbl="node0" presStyleIdx="0" presStyleCnt="2"/>
      <dgm:spPr/>
    </dgm:pt>
    <dgm:pt modelId="{7770ABEC-2BFE-4F89-957C-BD409C597E4D}" type="pres">
      <dgm:prSet presAssocID="{DB9773FF-A3C2-43FE-98CA-95F09135B5EB}" presName="text" presStyleLbl="fgAcc0" presStyleIdx="0" presStyleCnt="2">
        <dgm:presLayoutVars>
          <dgm:chPref val="3"/>
        </dgm:presLayoutVars>
      </dgm:prSet>
      <dgm:spPr/>
    </dgm:pt>
    <dgm:pt modelId="{ADCE55C0-CDDF-4B02-9E86-628654DE87C3}" type="pres">
      <dgm:prSet presAssocID="{DB9773FF-A3C2-43FE-98CA-95F09135B5EB}" presName="hierChild2" presStyleCnt="0"/>
      <dgm:spPr/>
    </dgm:pt>
    <dgm:pt modelId="{D48823C1-9697-45D3-91FC-67CD2E7D2F58}" type="pres">
      <dgm:prSet presAssocID="{4A862069-CEFC-4638-81CC-AC1EE7C9EE4A}" presName="hierRoot1" presStyleCnt="0"/>
      <dgm:spPr/>
    </dgm:pt>
    <dgm:pt modelId="{212D3B27-C5B4-4D48-93CD-A708C00E0B93}" type="pres">
      <dgm:prSet presAssocID="{4A862069-CEFC-4638-81CC-AC1EE7C9EE4A}" presName="composite" presStyleCnt="0"/>
      <dgm:spPr/>
    </dgm:pt>
    <dgm:pt modelId="{7364F295-C6E2-4D6E-842A-93E2C4A973D9}" type="pres">
      <dgm:prSet presAssocID="{4A862069-CEFC-4638-81CC-AC1EE7C9EE4A}" presName="background" presStyleLbl="node0" presStyleIdx="1" presStyleCnt="2"/>
      <dgm:spPr/>
    </dgm:pt>
    <dgm:pt modelId="{31D75953-9738-4A44-9808-A4B5C68C7C4F}" type="pres">
      <dgm:prSet presAssocID="{4A862069-CEFC-4638-81CC-AC1EE7C9EE4A}" presName="text" presStyleLbl="fgAcc0" presStyleIdx="1" presStyleCnt="2">
        <dgm:presLayoutVars>
          <dgm:chPref val="3"/>
        </dgm:presLayoutVars>
      </dgm:prSet>
      <dgm:spPr/>
    </dgm:pt>
    <dgm:pt modelId="{5D844D56-DA62-4E38-BBEA-6F437E67EA67}" type="pres">
      <dgm:prSet presAssocID="{4A862069-CEFC-4638-81CC-AC1EE7C9EE4A}" presName="hierChild2" presStyleCnt="0"/>
      <dgm:spPr/>
    </dgm:pt>
  </dgm:ptLst>
  <dgm:cxnLst>
    <dgm:cxn modelId="{D6C0BB47-60C9-4091-B1D2-DB75768B9AC8}" type="presOf" srcId="{DB9773FF-A3C2-43FE-98CA-95F09135B5EB}" destId="{7770ABEC-2BFE-4F89-957C-BD409C597E4D}" srcOrd="0" destOrd="0" presId="urn:microsoft.com/office/officeart/2005/8/layout/hierarchy1"/>
    <dgm:cxn modelId="{CBD6B64B-28F6-4200-B125-437979F7CD97}" type="presOf" srcId="{4A862069-CEFC-4638-81CC-AC1EE7C9EE4A}" destId="{31D75953-9738-4A44-9808-A4B5C68C7C4F}" srcOrd="0" destOrd="0" presId="urn:microsoft.com/office/officeart/2005/8/layout/hierarchy1"/>
    <dgm:cxn modelId="{578DD47C-4967-47FA-A829-F57271392A7B}" srcId="{E16AD426-C591-47AF-81A6-A62B841BDC88}" destId="{DB9773FF-A3C2-43FE-98CA-95F09135B5EB}" srcOrd="0" destOrd="0" parTransId="{7C0C41AE-60A6-402B-A342-B30F6369D010}" sibTransId="{45387AAE-D181-4714-96B8-2B1CE87EB418}"/>
    <dgm:cxn modelId="{DA0767B6-1176-49A3-B20C-BBC770DD812A}" type="presOf" srcId="{E16AD426-C591-47AF-81A6-A62B841BDC88}" destId="{BBCA3A1A-3A46-4CE0-AE0B-FCE421CC11A2}" srcOrd="0" destOrd="0" presId="urn:microsoft.com/office/officeart/2005/8/layout/hierarchy1"/>
    <dgm:cxn modelId="{96CA65FA-3E7B-41E0-9E61-D658633A8157}" srcId="{E16AD426-C591-47AF-81A6-A62B841BDC88}" destId="{4A862069-CEFC-4638-81CC-AC1EE7C9EE4A}" srcOrd="1" destOrd="0" parTransId="{AA272269-53EC-4109-A137-DB29B4CFA2DE}" sibTransId="{06391747-7AD0-441B-AF77-AF375E78EEC8}"/>
    <dgm:cxn modelId="{AE134DA6-F861-470B-9681-1EEA912F1F01}" type="presParOf" srcId="{BBCA3A1A-3A46-4CE0-AE0B-FCE421CC11A2}" destId="{3A53A8AC-D075-4A2A-BF53-A011C1338887}" srcOrd="0" destOrd="0" presId="urn:microsoft.com/office/officeart/2005/8/layout/hierarchy1"/>
    <dgm:cxn modelId="{F3A3A191-44E1-4573-B5CC-5F6BA791D971}" type="presParOf" srcId="{3A53A8AC-D075-4A2A-BF53-A011C1338887}" destId="{675B4FEB-19A0-41F2-A0D6-F13B2DCC501F}" srcOrd="0" destOrd="0" presId="urn:microsoft.com/office/officeart/2005/8/layout/hierarchy1"/>
    <dgm:cxn modelId="{B8A27FD3-6D7E-41A2-BDE3-C79330000CDA}" type="presParOf" srcId="{675B4FEB-19A0-41F2-A0D6-F13B2DCC501F}" destId="{4B9C1B1A-EB33-4130-ABF6-C1A17E9763FE}" srcOrd="0" destOrd="0" presId="urn:microsoft.com/office/officeart/2005/8/layout/hierarchy1"/>
    <dgm:cxn modelId="{DC107E27-FE24-48C6-94A1-ABF7C07B08CE}" type="presParOf" srcId="{675B4FEB-19A0-41F2-A0D6-F13B2DCC501F}" destId="{7770ABEC-2BFE-4F89-957C-BD409C597E4D}" srcOrd="1" destOrd="0" presId="urn:microsoft.com/office/officeart/2005/8/layout/hierarchy1"/>
    <dgm:cxn modelId="{8751AE74-528C-4864-BC86-B1522FBC9B11}" type="presParOf" srcId="{3A53A8AC-D075-4A2A-BF53-A011C1338887}" destId="{ADCE55C0-CDDF-4B02-9E86-628654DE87C3}" srcOrd="1" destOrd="0" presId="urn:microsoft.com/office/officeart/2005/8/layout/hierarchy1"/>
    <dgm:cxn modelId="{FF3F8F76-BC1D-4693-843F-8C1240DF8E49}" type="presParOf" srcId="{BBCA3A1A-3A46-4CE0-AE0B-FCE421CC11A2}" destId="{D48823C1-9697-45D3-91FC-67CD2E7D2F58}" srcOrd="1" destOrd="0" presId="urn:microsoft.com/office/officeart/2005/8/layout/hierarchy1"/>
    <dgm:cxn modelId="{77D2BADA-FF98-4EA7-A66F-48B188997C64}" type="presParOf" srcId="{D48823C1-9697-45D3-91FC-67CD2E7D2F58}" destId="{212D3B27-C5B4-4D48-93CD-A708C00E0B93}" srcOrd="0" destOrd="0" presId="urn:microsoft.com/office/officeart/2005/8/layout/hierarchy1"/>
    <dgm:cxn modelId="{F3AB1330-F716-45D4-908E-6A3E5E7966A0}" type="presParOf" srcId="{212D3B27-C5B4-4D48-93CD-A708C00E0B93}" destId="{7364F295-C6E2-4D6E-842A-93E2C4A973D9}" srcOrd="0" destOrd="0" presId="urn:microsoft.com/office/officeart/2005/8/layout/hierarchy1"/>
    <dgm:cxn modelId="{4DB0339C-B59D-4A71-A654-743C41CFDDBF}" type="presParOf" srcId="{212D3B27-C5B4-4D48-93CD-A708C00E0B93}" destId="{31D75953-9738-4A44-9808-A4B5C68C7C4F}" srcOrd="1" destOrd="0" presId="urn:microsoft.com/office/officeart/2005/8/layout/hierarchy1"/>
    <dgm:cxn modelId="{70A5212A-CBF0-41BE-8DCC-96E22B90382E}" type="presParOf" srcId="{D48823C1-9697-45D3-91FC-67CD2E7D2F58}" destId="{5D844D56-DA62-4E38-BBEA-6F437E67EA6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9C1B1A-EB33-4130-ABF6-C1A17E9763FE}">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70ABEC-2BFE-4F89-957C-BD409C597E4D}">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a:t>Surendar Sathish</a:t>
          </a:r>
          <a:br>
            <a:rPr lang="en-IN" sz="1800" kern="1200"/>
          </a:br>
          <a:r>
            <a:rPr lang="en-IN" sz="1800" kern="1200"/>
            <a:t>B.Tech CSE (AI &amp; ML)</a:t>
          </a:r>
          <a:br>
            <a:rPr lang="en-IN" sz="1800" kern="1200"/>
          </a:br>
          <a:r>
            <a:rPr lang="en-IN" sz="1800" kern="1200"/>
            <a:t>Aspiring Data Analyst</a:t>
          </a:r>
          <a:endParaRPr lang="en-US" sz="1800" kern="1200"/>
        </a:p>
      </dsp:txBody>
      <dsp:txXfrm>
        <a:off x="696297" y="538547"/>
        <a:ext cx="4171627" cy="2590157"/>
      </dsp:txXfrm>
    </dsp:sp>
    <dsp:sp modelId="{7364F295-C6E2-4D6E-842A-93E2C4A973D9}">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D75953-9738-4A44-9808-A4B5C68C7C4F}">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a:t>LinkedIn:</a:t>
          </a:r>
          <a:r>
            <a:rPr lang="en-IN" sz="1800" kern="1200"/>
            <a:t> </a:t>
          </a:r>
          <a:r>
            <a:rPr lang="en-IN" sz="1800" kern="1200">
              <a:hlinkClick xmlns:r="http://schemas.openxmlformats.org/officeDocument/2006/relationships" r:id="rId1"/>
            </a:rPr>
            <a:t>https://www.linkedin.com/in/surendar-sathish-2536b4317</a:t>
          </a:r>
          <a:br>
            <a:rPr lang="en-IN" sz="1800" kern="1200"/>
          </a:br>
          <a:r>
            <a:rPr lang="en-IN" sz="1800" b="1" kern="1200"/>
            <a:t>GitHub:</a:t>
          </a:r>
          <a:r>
            <a:rPr lang="en-IN" sz="1800" kern="1200"/>
            <a:t> </a:t>
          </a:r>
          <a:r>
            <a:rPr lang="en-IN" sz="1800" kern="1200">
              <a:hlinkClick xmlns:r="http://schemas.openxmlformats.org/officeDocument/2006/relationships" r:id="rId2"/>
            </a:rPr>
            <a:t>https://github.com/surendarsathish</a:t>
          </a:r>
          <a:endParaRPr lang="en-US" sz="1800" kern="1200"/>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65E2F-B3BA-4913-903C-C69791B183C6}" type="datetimeFigureOut">
              <a:rPr lang="en-IN" smtClean="0"/>
              <a:t>21-06-2026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8336D4-C06B-472A-B6AD-C8AA18EC78C3}" type="slidenum">
              <a:rPr lang="en-IN" smtClean="0"/>
              <a:t>‹#›</a:t>
            </a:fld>
            <a:endParaRPr lang="en-IN"/>
          </a:p>
        </p:txBody>
      </p:sp>
    </p:spTree>
    <p:extLst>
      <p:ext uri="{BB962C8B-B14F-4D97-AF65-F5344CB8AC3E}">
        <p14:creationId xmlns:p14="http://schemas.microsoft.com/office/powerpoint/2010/main" val="3354997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98336D4-C06B-472A-B6AD-C8AA18EC78C3}" type="slidenum">
              <a:rPr lang="en-IN" smtClean="0"/>
              <a:t>12</a:t>
            </a:fld>
            <a:endParaRPr lang="en-IN"/>
          </a:p>
        </p:txBody>
      </p:sp>
    </p:spTree>
    <p:extLst>
      <p:ext uri="{BB962C8B-B14F-4D97-AF65-F5344CB8AC3E}">
        <p14:creationId xmlns:p14="http://schemas.microsoft.com/office/powerpoint/2010/main" val="955423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CA10-D4D3-2F33-1EDF-A40AD41904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BCEB08-52E3-D293-257B-F1FD12026E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AC236C-A0D5-F6A8-5D81-3A754F759445}"/>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927F1AD8-4C4C-7448-4DD2-C3A9519348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2E2F5A-6B34-169F-ABBF-3325EC088E0E}"/>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157508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6BB69-A7EB-AF6D-48B5-0C7CE5D1BB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C23454-232A-D1BC-65C0-62217D0B5C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6B4B7A-78DE-C3A1-8735-8A6DF371DB3B}"/>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8D6B774C-D4BE-6CF8-8BA8-71DEF0D7B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0794B2-13F0-3156-C822-EA8268802CE9}"/>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56557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A51D0-E25F-92FD-D437-6EADD058EA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59B5B6-F8F2-8D7F-3182-1D30973B59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DB50E7-7F77-CCBD-BA4D-D5FA366105AA}"/>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CA032760-1175-29DD-7C1F-14FB0EDE24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98543F-6C59-B118-37C7-3AE5F9D95297}"/>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2717269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3681-6ADF-AEF6-46ED-5B261C6F30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DAAE98-33F8-1F14-8F39-30492DD91B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885914-9314-A7F8-D0FC-9ACB3CB8D5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6BFFB4-E3A1-8BD9-3EAE-413A109CEBF5}"/>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6" name="Footer Placeholder 5">
            <a:extLst>
              <a:ext uri="{FF2B5EF4-FFF2-40B4-BE49-F238E27FC236}">
                <a16:creationId xmlns:a16="http://schemas.microsoft.com/office/drawing/2014/main" id="{FE0725C6-6383-7F85-C728-EFD2F16169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868B6A-85F8-7D67-F413-84C626CA38BA}"/>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312386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92C3-1D44-7EA8-272A-917641DB9D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4E8644-B3F9-7F46-4444-FF2711466B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4721D1-F7E0-932F-D564-332C436621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6713CB-2872-A1DE-3885-F798DE73D2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126228-D6C7-AED7-5253-199B5AB608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E3172D-ECFA-C0D0-FE40-54E79A4C0980}"/>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8" name="Footer Placeholder 7">
            <a:extLst>
              <a:ext uri="{FF2B5EF4-FFF2-40B4-BE49-F238E27FC236}">
                <a16:creationId xmlns:a16="http://schemas.microsoft.com/office/drawing/2014/main" id="{D9C4CF91-4785-AFF7-D305-C740F0BB05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6F2633-73E0-6C95-371D-6811A7DD851D}"/>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1383027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96B7B-47F7-7490-322C-042AA3044C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ACC326-7636-A326-7D09-980F0DB65BEB}"/>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4" name="Footer Placeholder 3">
            <a:extLst>
              <a:ext uri="{FF2B5EF4-FFF2-40B4-BE49-F238E27FC236}">
                <a16:creationId xmlns:a16="http://schemas.microsoft.com/office/drawing/2014/main" id="{2C683F26-D592-C1F3-EE3D-328D3FD8DD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E29DD0-8EC0-1F70-43EE-9A79A38D0386}"/>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1354610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911571-C28A-5F04-E3CD-F2B453B06D1B}"/>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3" name="Footer Placeholder 2">
            <a:extLst>
              <a:ext uri="{FF2B5EF4-FFF2-40B4-BE49-F238E27FC236}">
                <a16:creationId xmlns:a16="http://schemas.microsoft.com/office/drawing/2014/main" id="{068C3F35-1657-D265-5301-612A2D9943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99D5A6-BDC5-38A1-732B-709559D40B2D}"/>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37769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E83BB-7650-0A92-36CD-B06EB0FE9E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FCA32D-8EC5-81C8-7253-3965A97F44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A55B2D-6861-F8CE-E3C3-EF7879109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09F11A-DB04-3669-1212-CF56E650004B}"/>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6" name="Footer Placeholder 5">
            <a:extLst>
              <a:ext uri="{FF2B5EF4-FFF2-40B4-BE49-F238E27FC236}">
                <a16:creationId xmlns:a16="http://schemas.microsoft.com/office/drawing/2014/main" id="{F0695987-0B37-4274-C852-B4C05A946A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BC29F9-5102-E3AE-39AA-E13CEB5674E5}"/>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521399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08BF4-5B49-BE84-221D-5819BC5D0F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B4AEE2-E19E-4D28-9383-5B03F4406E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57394D-29E7-9368-301F-C7F11213A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02579C-FA56-8D8A-01C9-B92AC9ACA1F0}"/>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6" name="Footer Placeholder 5">
            <a:extLst>
              <a:ext uri="{FF2B5EF4-FFF2-40B4-BE49-F238E27FC236}">
                <a16:creationId xmlns:a16="http://schemas.microsoft.com/office/drawing/2014/main" id="{A5F0B7E2-8FA0-8ACC-748F-953FCE428D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15B227-5CC3-ED12-1649-990DC99031CE}"/>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38619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F0242-6A23-8EE0-9F2E-9905E27182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A17810-A3AA-0F04-B81E-FFA81745AD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09766A-861C-FC14-5D82-46E917985DAC}"/>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65F84128-1D95-30F9-F6F7-F84FEF5B91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B2001-979C-8075-B4BB-9C9B7F9CE753}"/>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2721333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B59B85-8696-AF94-1E3D-CFDBAAB3CB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64CFA3-F99B-53E1-09EE-8BAD5D4FAA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282609-8898-4AD2-612F-0A89E9568639}"/>
              </a:ext>
            </a:extLst>
          </p:cNvPr>
          <p:cNvSpPr>
            <a:spLocks noGrp="1"/>
          </p:cNvSpPr>
          <p:nvPr>
            <p:ph type="dt" sz="half" idx="10"/>
          </p:nvPr>
        </p:nvSpPr>
        <p:spPr/>
        <p:txBody>
          <a:body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51786660-70FC-198F-3F8B-BEF15330F2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4285F7-6EA5-8B6B-4BAF-C2EB2F0C943F}"/>
              </a:ext>
            </a:extLst>
          </p:cNvPr>
          <p:cNvSpPr>
            <a:spLocks noGrp="1"/>
          </p:cNvSpPr>
          <p:nvPr>
            <p:ph type="sldNum" sz="quarter" idx="12"/>
          </p:nvPr>
        </p:nvSpPr>
        <p:spPr/>
        <p:txBody>
          <a:bodyPr/>
          <a:lstStyle/>
          <a:p>
            <a:fld id="{32B85192-964D-4302-87EE-DA41D0E69680}" type="slidenum">
              <a:rPr lang="en-IN" smtClean="0"/>
              <a:t>‹#›</a:t>
            </a:fld>
            <a:endParaRPr lang="en-IN"/>
          </a:p>
        </p:txBody>
      </p:sp>
    </p:spTree>
    <p:extLst>
      <p:ext uri="{BB962C8B-B14F-4D97-AF65-F5344CB8AC3E}">
        <p14:creationId xmlns:p14="http://schemas.microsoft.com/office/powerpoint/2010/main" val="2633269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44D503-7F4C-79FE-290F-8DFC156EE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B684E1-CB88-D472-5E38-D01896EF9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1FC5C9-E923-F5F8-7A6A-0AB5979FA5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C09BEF-0DA8-4D84-85A6-1A14AD6CFE51}" type="datetimeFigureOut">
              <a:rPr lang="en-IN" smtClean="0"/>
              <a:t>21-06-2026</a:t>
            </a:fld>
            <a:endParaRPr lang="en-IN"/>
          </a:p>
        </p:txBody>
      </p:sp>
      <p:sp>
        <p:nvSpPr>
          <p:cNvPr id="5" name="Footer Placeholder 4">
            <a:extLst>
              <a:ext uri="{FF2B5EF4-FFF2-40B4-BE49-F238E27FC236}">
                <a16:creationId xmlns:a16="http://schemas.microsoft.com/office/drawing/2014/main" id="{B1DDE8B8-0824-2F2F-5D8B-B38D636CCC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62D5027-85B3-E701-7A71-DF92AB129E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B85192-964D-4302-87EE-DA41D0E69680}" type="slidenum">
              <a:rPr lang="en-IN" smtClean="0"/>
              <a:t>‹#›</a:t>
            </a:fld>
            <a:endParaRPr lang="en-IN"/>
          </a:p>
        </p:txBody>
      </p:sp>
    </p:spTree>
    <p:extLst>
      <p:ext uri="{BB962C8B-B14F-4D97-AF65-F5344CB8AC3E}">
        <p14:creationId xmlns:p14="http://schemas.microsoft.com/office/powerpoint/2010/main" val="2742479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urendarsathish/Task2-EDA-Business-Intelligence" TargetMode="External"/><Relationship Id="rId2" Type="http://schemas.openxmlformats.org/officeDocument/2006/relationships/hyperlink" Target="https://github.com/surendarsathish/Task1-Data-Analytics" TargetMode="External"/><Relationship Id="rId1" Type="http://schemas.openxmlformats.org/officeDocument/2006/relationships/slideLayout" Target="../slideLayouts/slideLayout2.xml"/><Relationship Id="rId5" Type="http://schemas.openxmlformats.org/officeDocument/2006/relationships/hyperlink" Target="https://github.com/surendarsathish/Task-4-Data-Storytelling-and-Statistical-Validation" TargetMode="External"/><Relationship Id="rId4" Type="http://schemas.openxmlformats.org/officeDocument/2006/relationships/hyperlink" Target="https://github.com/surendarsathish/ApexPlanet-Task3-DeepDive-Sales-Dashboar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9A933-0996-111F-A76D-48D8A7B0A5B0}"/>
              </a:ext>
            </a:extLst>
          </p:cNvPr>
          <p:cNvSpPr>
            <a:spLocks noGrp="1"/>
          </p:cNvSpPr>
          <p:nvPr>
            <p:ph type="ctrTitle"/>
          </p:nvPr>
        </p:nvSpPr>
        <p:spPr>
          <a:xfrm>
            <a:off x="5297762" y="640080"/>
            <a:ext cx="6251110" cy="3566160"/>
          </a:xfrm>
        </p:spPr>
        <p:txBody>
          <a:bodyPr anchor="b">
            <a:normAutofit/>
          </a:bodyPr>
          <a:lstStyle/>
          <a:p>
            <a:pPr algn="l"/>
            <a:r>
              <a:rPr lang="en-IN" sz="5400">
                <a:latin typeface="Times New Roman" panose="02020603050405020304" pitchFamily="18" charset="0"/>
                <a:cs typeface="Times New Roman" panose="02020603050405020304" pitchFamily="18" charset="0"/>
              </a:rPr>
              <a:t>ApexPlanet</a:t>
            </a:r>
            <a:r>
              <a:rPr lang="en-IN" sz="5400"/>
              <a:t> Data Analytics Internship Portfolio</a:t>
            </a:r>
          </a:p>
        </p:txBody>
      </p:sp>
      <p:sp>
        <p:nvSpPr>
          <p:cNvPr id="3" name="Subtitle 2">
            <a:extLst>
              <a:ext uri="{FF2B5EF4-FFF2-40B4-BE49-F238E27FC236}">
                <a16:creationId xmlns:a16="http://schemas.microsoft.com/office/drawing/2014/main" id="{17F7B3A7-0042-16DD-A1E0-8DAFECA8E1DF}"/>
              </a:ext>
            </a:extLst>
          </p:cNvPr>
          <p:cNvSpPr>
            <a:spLocks noGrp="1"/>
          </p:cNvSpPr>
          <p:nvPr>
            <p:ph type="subTitle" idx="1"/>
          </p:nvPr>
        </p:nvSpPr>
        <p:spPr>
          <a:xfrm>
            <a:off x="5297760" y="4636008"/>
            <a:ext cx="6251111" cy="1572768"/>
          </a:xfrm>
        </p:spPr>
        <p:txBody>
          <a:bodyPr>
            <a:normAutofit/>
          </a:bodyPr>
          <a:lstStyle/>
          <a:p>
            <a:pPr algn="l"/>
            <a:r>
              <a:rPr lang="en-IN" sz="2200" b="1">
                <a:latin typeface="Microsoft New Tai Lue" panose="020B0502040204020203" pitchFamily="34" charset="0"/>
                <a:cs typeface="Microsoft New Tai Lue" panose="020B0502040204020203" pitchFamily="34" charset="0"/>
              </a:rPr>
              <a:t>Capstone Integration &amp; Portfolio Finalization</a:t>
            </a:r>
          </a:p>
          <a:p>
            <a:pPr algn="l"/>
            <a:r>
              <a:rPr lang="en-IN" sz="2200" b="1">
                <a:latin typeface="Microsoft New Tai Lue" panose="020B0502040204020203" pitchFamily="34" charset="0"/>
                <a:cs typeface="Microsoft New Tai Lue" panose="020B0502040204020203" pitchFamily="34" charset="0"/>
              </a:rPr>
              <a:t>Presented by:</a:t>
            </a:r>
            <a:r>
              <a:rPr lang="en-IN" sz="2200">
                <a:latin typeface="Microsoft New Tai Lue" panose="020B0502040204020203" pitchFamily="34" charset="0"/>
                <a:cs typeface="Microsoft New Tai Lue" panose="020B0502040204020203" pitchFamily="34" charset="0"/>
              </a:rPr>
              <a:t> Surendar Sathish</a:t>
            </a:r>
            <a:br>
              <a:rPr lang="en-IN" sz="2200">
                <a:latin typeface="Microsoft New Tai Lue" panose="020B0502040204020203" pitchFamily="34" charset="0"/>
                <a:cs typeface="Microsoft New Tai Lue" panose="020B0502040204020203" pitchFamily="34" charset="0"/>
              </a:rPr>
            </a:br>
            <a:r>
              <a:rPr lang="en-IN" sz="2200" b="1">
                <a:latin typeface="Microsoft New Tai Lue" panose="020B0502040204020203" pitchFamily="34" charset="0"/>
                <a:cs typeface="Microsoft New Tai Lue" panose="020B0502040204020203" pitchFamily="34" charset="0"/>
              </a:rPr>
              <a:t>Course:</a:t>
            </a:r>
            <a:r>
              <a:rPr lang="en-IN" sz="2200">
                <a:latin typeface="Microsoft New Tai Lue" panose="020B0502040204020203" pitchFamily="34" charset="0"/>
                <a:cs typeface="Microsoft New Tai Lue" panose="020B0502040204020203" pitchFamily="34" charset="0"/>
              </a:rPr>
              <a:t> </a:t>
            </a:r>
            <a:r>
              <a:rPr lang="en-IN" sz="2200" err="1">
                <a:latin typeface="Microsoft New Tai Lue" panose="020B0502040204020203" pitchFamily="34" charset="0"/>
                <a:cs typeface="Microsoft New Tai Lue" panose="020B0502040204020203" pitchFamily="34" charset="0"/>
              </a:rPr>
              <a:t>B.Tech</a:t>
            </a:r>
            <a:r>
              <a:rPr lang="en-IN" sz="2200">
                <a:latin typeface="Microsoft New Tai Lue" panose="020B0502040204020203" pitchFamily="34" charset="0"/>
                <a:cs typeface="Microsoft New Tai Lue" panose="020B0502040204020203" pitchFamily="34" charset="0"/>
              </a:rPr>
              <a:t> CSE (AI &amp; ML)</a:t>
            </a:r>
            <a:br>
              <a:rPr lang="en-IN" sz="2200">
                <a:latin typeface="Microsoft New Tai Lue" panose="020B0502040204020203" pitchFamily="34" charset="0"/>
                <a:cs typeface="Microsoft New Tai Lue" panose="020B0502040204020203" pitchFamily="34" charset="0"/>
              </a:rPr>
            </a:br>
            <a:r>
              <a:rPr lang="en-IN" sz="2200" b="1">
                <a:latin typeface="Microsoft New Tai Lue" panose="020B0502040204020203" pitchFamily="34" charset="0"/>
                <a:cs typeface="Microsoft New Tai Lue" panose="020B0502040204020203" pitchFamily="34" charset="0"/>
              </a:rPr>
              <a:t>Role Goal:</a:t>
            </a:r>
            <a:r>
              <a:rPr lang="en-IN" sz="2200">
                <a:latin typeface="Microsoft New Tai Lue" panose="020B0502040204020203" pitchFamily="34" charset="0"/>
                <a:cs typeface="Microsoft New Tai Lue" panose="020B0502040204020203" pitchFamily="34" charset="0"/>
              </a:rPr>
              <a:t> Aspiring Data Analyst</a:t>
            </a:r>
          </a:p>
          <a:p>
            <a:pPr algn="l"/>
            <a:endParaRPr lang="en-IN" sz="2200"/>
          </a:p>
        </p:txBody>
      </p:sp>
      <p:pic>
        <p:nvPicPr>
          <p:cNvPr id="5" name="Picture 4" descr="Person writing on a notepad">
            <a:extLst>
              <a:ext uri="{FF2B5EF4-FFF2-40B4-BE49-F238E27FC236}">
                <a16:creationId xmlns:a16="http://schemas.microsoft.com/office/drawing/2014/main" id="{5576012E-6EB6-7A5C-665C-008CA92C82F7}"/>
              </a:ext>
            </a:extLst>
          </p:cNvPr>
          <p:cNvPicPr>
            <a:picLocks noChangeAspect="1"/>
          </p:cNvPicPr>
          <p:nvPr/>
        </p:nvPicPr>
        <p:blipFill>
          <a:blip r:embed="rId2"/>
          <a:srcRect l="26782" r="19398"/>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7070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200FD47-F736-F098-CCB1-A440889D66F1}"/>
              </a:ext>
            </a:extLst>
          </p:cNvPr>
          <p:cNvSpPr>
            <a:spLocks noGrp="1"/>
          </p:cNvSpPr>
          <p:nvPr>
            <p:ph type="title"/>
          </p:nvPr>
        </p:nvSpPr>
        <p:spPr>
          <a:xfrm>
            <a:off x="1188069" y="381935"/>
            <a:ext cx="4008583" cy="5974414"/>
          </a:xfrm>
        </p:spPr>
        <p:txBody>
          <a:bodyPr anchor="ctr">
            <a:normAutofit/>
          </a:bodyPr>
          <a:lstStyle/>
          <a:p>
            <a:r>
              <a:rPr lang="en-IN" sz="7400">
                <a:solidFill>
                  <a:srgbClr val="FFFFFF"/>
                </a:solidFill>
              </a:rPr>
              <a:t>Internship Overview</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51544B87-6B72-3A99-6072-2B4944695378}"/>
              </a:ext>
            </a:extLst>
          </p:cNvPr>
          <p:cNvSpPr>
            <a:spLocks noGrp="1"/>
          </p:cNvSpPr>
          <p:nvPr>
            <p:ph idx="1"/>
          </p:nvPr>
        </p:nvSpPr>
        <p:spPr>
          <a:xfrm>
            <a:off x="6297233" y="518400"/>
            <a:ext cx="4771607" cy="5837949"/>
          </a:xfrm>
        </p:spPr>
        <p:txBody>
          <a:bodyPr anchor="ctr">
            <a:normAutofit/>
          </a:bodyPr>
          <a:lstStyle/>
          <a:p>
            <a:r>
              <a:rPr lang="en-IN" sz="1100">
                <a:solidFill>
                  <a:schemeClr val="tx1">
                    <a:alpha val="80000"/>
                  </a:schemeClr>
                </a:solidFill>
              </a:rPr>
              <a:t>The ApexPlanet Data Analytics Internship provided hands-on exposure to the complete data analytics workflow. The internship focused on solving practical business-oriented tasks using analytics tools and structured project documentation.</a:t>
            </a:r>
          </a:p>
          <a:p>
            <a:r>
              <a:rPr lang="en-IN" sz="1100" b="1">
                <a:solidFill>
                  <a:schemeClr val="tx1">
                    <a:alpha val="80000"/>
                  </a:schemeClr>
                </a:solidFill>
              </a:rPr>
              <a:t>Internship Focus Areas:</a:t>
            </a:r>
          </a:p>
          <a:p>
            <a:r>
              <a:rPr lang="en-IN" sz="1100">
                <a:solidFill>
                  <a:schemeClr val="tx1">
                    <a:alpha val="80000"/>
                  </a:schemeClr>
                </a:solidFill>
              </a:rPr>
              <a:t>Data Cleaning &amp; Preprocessing </a:t>
            </a:r>
          </a:p>
          <a:p>
            <a:r>
              <a:rPr lang="en-IN" sz="1100">
                <a:solidFill>
                  <a:schemeClr val="tx1">
                    <a:alpha val="80000"/>
                  </a:schemeClr>
                </a:solidFill>
              </a:rPr>
              <a:t>Exploratory Data Analysis </a:t>
            </a:r>
          </a:p>
          <a:p>
            <a:r>
              <a:rPr lang="en-IN" sz="1100">
                <a:solidFill>
                  <a:schemeClr val="tx1">
                    <a:alpha val="80000"/>
                  </a:schemeClr>
                </a:solidFill>
              </a:rPr>
              <a:t>Dashboard Development </a:t>
            </a:r>
          </a:p>
          <a:p>
            <a:r>
              <a:rPr lang="en-IN" sz="1100">
                <a:solidFill>
                  <a:schemeClr val="tx1">
                    <a:alpha val="80000"/>
                  </a:schemeClr>
                </a:solidFill>
              </a:rPr>
              <a:t>Data Storytelling </a:t>
            </a:r>
          </a:p>
          <a:p>
            <a:r>
              <a:rPr lang="en-IN" sz="1100">
                <a:solidFill>
                  <a:schemeClr val="tx1">
                    <a:alpha val="80000"/>
                  </a:schemeClr>
                </a:solidFill>
              </a:rPr>
              <a:t>Statistical Validation </a:t>
            </a:r>
          </a:p>
          <a:p>
            <a:r>
              <a:rPr lang="en-IN" sz="1100">
                <a:solidFill>
                  <a:schemeClr val="tx1">
                    <a:alpha val="80000"/>
                  </a:schemeClr>
                </a:solidFill>
              </a:rPr>
              <a:t>GitHub-based Project Documentation </a:t>
            </a:r>
          </a:p>
          <a:p>
            <a:r>
              <a:rPr lang="en-IN" sz="1100" b="1">
                <a:solidFill>
                  <a:schemeClr val="tx1">
                    <a:alpha val="80000"/>
                  </a:schemeClr>
                </a:solidFill>
              </a:rPr>
              <a:t>Tools Used:</a:t>
            </a:r>
          </a:p>
          <a:p>
            <a:r>
              <a:rPr lang="en-IN" sz="1100">
                <a:solidFill>
                  <a:schemeClr val="tx1">
                    <a:alpha val="80000"/>
                  </a:schemeClr>
                </a:solidFill>
              </a:rPr>
              <a:t>Python </a:t>
            </a:r>
          </a:p>
          <a:p>
            <a:r>
              <a:rPr lang="en-IN" sz="1100">
                <a:solidFill>
                  <a:schemeClr val="tx1">
                    <a:alpha val="80000"/>
                  </a:schemeClr>
                </a:solidFill>
              </a:rPr>
              <a:t>Pandas </a:t>
            </a:r>
          </a:p>
          <a:p>
            <a:r>
              <a:rPr lang="en-IN" sz="1100">
                <a:solidFill>
                  <a:schemeClr val="tx1">
                    <a:alpha val="80000"/>
                  </a:schemeClr>
                </a:solidFill>
              </a:rPr>
              <a:t>NumPy </a:t>
            </a:r>
          </a:p>
          <a:p>
            <a:r>
              <a:rPr lang="en-IN" sz="1100">
                <a:solidFill>
                  <a:schemeClr val="tx1">
                    <a:alpha val="80000"/>
                  </a:schemeClr>
                </a:solidFill>
              </a:rPr>
              <a:t>Matplotlib </a:t>
            </a:r>
          </a:p>
          <a:p>
            <a:r>
              <a:rPr lang="en-IN" sz="1100">
                <a:solidFill>
                  <a:schemeClr val="tx1">
                    <a:alpha val="80000"/>
                  </a:schemeClr>
                </a:solidFill>
              </a:rPr>
              <a:t>Seaborn </a:t>
            </a:r>
          </a:p>
          <a:p>
            <a:r>
              <a:rPr lang="en-IN" sz="1100">
                <a:solidFill>
                  <a:schemeClr val="tx1">
                    <a:alpha val="80000"/>
                  </a:schemeClr>
                </a:solidFill>
              </a:rPr>
              <a:t>Excel </a:t>
            </a:r>
          </a:p>
          <a:p>
            <a:r>
              <a:rPr lang="en-IN" sz="1100">
                <a:solidFill>
                  <a:schemeClr val="tx1">
                    <a:alpha val="80000"/>
                  </a:schemeClr>
                </a:solidFill>
              </a:rPr>
              <a:t>Power BI </a:t>
            </a:r>
          </a:p>
          <a:p>
            <a:r>
              <a:rPr lang="en-IN" sz="1100">
                <a:solidFill>
                  <a:schemeClr val="tx1">
                    <a:alpha val="80000"/>
                  </a:schemeClr>
                </a:solidFill>
              </a:rPr>
              <a:t>GitHub </a:t>
            </a:r>
          </a:p>
          <a:p>
            <a:r>
              <a:rPr lang="en-IN" sz="1100">
                <a:solidFill>
                  <a:schemeClr val="tx1">
                    <a:alpha val="80000"/>
                  </a:schemeClr>
                </a:solidFill>
              </a:rPr>
              <a:t>Google Colab</a:t>
            </a:r>
          </a:p>
          <a:p>
            <a:endParaRPr lang="en-IN" sz="11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92916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4503C5F-CE79-F08F-FC74-D14FC2707A95}"/>
              </a:ext>
            </a:extLst>
          </p:cNvPr>
          <p:cNvSpPr>
            <a:spLocks noGrp="1"/>
          </p:cNvSpPr>
          <p:nvPr>
            <p:ph type="title"/>
          </p:nvPr>
        </p:nvSpPr>
        <p:spPr>
          <a:xfrm>
            <a:off x="1188069" y="381935"/>
            <a:ext cx="4008583" cy="5974414"/>
          </a:xfrm>
        </p:spPr>
        <p:txBody>
          <a:bodyPr anchor="ctr">
            <a:normAutofit/>
          </a:bodyPr>
          <a:lstStyle/>
          <a:p>
            <a:r>
              <a:rPr lang="en-IN" sz="7400">
                <a:solidFill>
                  <a:srgbClr val="FFFFFF"/>
                </a:solidFill>
              </a:rPr>
              <a:t>Objective of the Capstone Portfolio</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E76AC19B-24E1-2277-CCF1-26DB055B80A3}"/>
              </a:ext>
            </a:extLst>
          </p:cNvPr>
          <p:cNvSpPr>
            <a:spLocks noGrp="1"/>
          </p:cNvSpPr>
          <p:nvPr>
            <p:ph idx="1"/>
          </p:nvPr>
        </p:nvSpPr>
        <p:spPr>
          <a:xfrm>
            <a:off x="6297233" y="518400"/>
            <a:ext cx="4771607" cy="5837949"/>
          </a:xfrm>
        </p:spPr>
        <p:txBody>
          <a:bodyPr anchor="ctr">
            <a:normAutofit/>
          </a:bodyPr>
          <a:lstStyle/>
          <a:p>
            <a:r>
              <a:rPr lang="en-IN" sz="2000">
                <a:solidFill>
                  <a:schemeClr val="tx1">
                    <a:alpha val="80000"/>
                  </a:schemeClr>
                </a:solidFill>
              </a:rPr>
              <a:t>The goal of this final capstone task is to integrate all internship tasks into one professional master portfolio repository. This portfolio acts as a single point of reference for the entire internship journey and demonstrates my end-to-end understanding of data analytics.</a:t>
            </a:r>
          </a:p>
          <a:p>
            <a:r>
              <a:rPr lang="en-IN" sz="2000" b="1">
                <a:solidFill>
                  <a:schemeClr val="tx1">
                    <a:alpha val="80000"/>
                  </a:schemeClr>
                </a:solidFill>
              </a:rPr>
              <a:t>Portfolio Purpose:</a:t>
            </a:r>
          </a:p>
          <a:p>
            <a:r>
              <a:rPr lang="en-IN" sz="2000">
                <a:solidFill>
                  <a:schemeClr val="tx1">
                    <a:alpha val="80000"/>
                  </a:schemeClr>
                </a:solidFill>
              </a:rPr>
              <a:t>Consolidate all internship tasks in one place </a:t>
            </a:r>
          </a:p>
          <a:p>
            <a:r>
              <a:rPr lang="en-IN" sz="2000">
                <a:solidFill>
                  <a:schemeClr val="tx1">
                    <a:alpha val="80000"/>
                  </a:schemeClr>
                </a:solidFill>
              </a:rPr>
              <a:t>Present work in a professional GitHub repository </a:t>
            </a:r>
          </a:p>
          <a:p>
            <a:r>
              <a:rPr lang="en-IN" sz="2000">
                <a:solidFill>
                  <a:schemeClr val="tx1">
                    <a:alpha val="80000"/>
                  </a:schemeClr>
                </a:solidFill>
              </a:rPr>
              <a:t>Showcase technical skills and project outcomes </a:t>
            </a:r>
          </a:p>
          <a:p>
            <a:r>
              <a:rPr lang="en-IN" sz="2000">
                <a:solidFill>
                  <a:schemeClr val="tx1">
                    <a:alpha val="80000"/>
                  </a:schemeClr>
                </a:solidFill>
              </a:rPr>
              <a:t>Reflect learning progress and analytical growth</a:t>
            </a:r>
          </a:p>
          <a:p>
            <a:endParaRPr lang="en-IN"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661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Financial graphs on a dark display">
            <a:extLst>
              <a:ext uri="{FF2B5EF4-FFF2-40B4-BE49-F238E27FC236}">
                <a16:creationId xmlns:a16="http://schemas.microsoft.com/office/drawing/2014/main" id="{12CED54C-F779-539F-C32A-BA3661A0E704}"/>
              </a:ext>
            </a:extLst>
          </p:cNvPr>
          <p:cNvPicPr>
            <a:picLocks noChangeAspect="1"/>
          </p:cNvPicPr>
          <p:nvPr/>
        </p:nvPicPr>
        <p:blipFill>
          <a:blip r:embed="rId2">
            <a:alphaModFix amt="60000"/>
          </a:blip>
          <a:srcRect t="1000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7B59CF9F-2E31-EA4E-9409-4B3114ED202D}"/>
              </a:ext>
            </a:extLst>
          </p:cNvPr>
          <p:cNvSpPr>
            <a:spLocks noGrp="1"/>
          </p:cNvSpPr>
          <p:nvPr>
            <p:ph type="title"/>
          </p:nvPr>
        </p:nvSpPr>
        <p:spPr>
          <a:xfrm>
            <a:off x="838199" y="557189"/>
            <a:ext cx="5155263" cy="5571899"/>
          </a:xfrm>
        </p:spPr>
        <p:txBody>
          <a:bodyPr>
            <a:normAutofit/>
          </a:bodyPr>
          <a:lstStyle/>
          <a:p>
            <a:r>
              <a:rPr lang="en-IN">
                <a:solidFill>
                  <a:srgbClr val="FFFFFF"/>
                </a:solidFill>
              </a:rPr>
              <a:t>Task 1 – Data Immersion &amp; Wrangling</a:t>
            </a:r>
          </a:p>
        </p:txBody>
      </p:sp>
      <p:sp>
        <p:nvSpPr>
          <p:cNvPr id="3" name="Content Placeholder 2">
            <a:extLst>
              <a:ext uri="{FF2B5EF4-FFF2-40B4-BE49-F238E27FC236}">
                <a16:creationId xmlns:a16="http://schemas.microsoft.com/office/drawing/2014/main" id="{E3735CF3-A79F-0271-5446-DE940D68C947}"/>
              </a:ext>
            </a:extLst>
          </p:cNvPr>
          <p:cNvSpPr>
            <a:spLocks noGrp="1"/>
          </p:cNvSpPr>
          <p:nvPr>
            <p:ph idx="1"/>
          </p:nvPr>
        </p:nvSpPr>
        <p:spPr>
          <a:xfrm>
            <a:off x="6195375" y="557189"/>
            <a:ext cx="5158424" cy="5571899"/>
          </a:xfrm>
        </p:spPr>
        <p:txBody>
          <a:bodyPr anchor="ctr">
            <a:normAutofit/>
          </a:bodyPr>
          <a:lstStyle/>
          <a:p>
            <a:r>
              <a:rPr lang="en-IN" sz="2000" b="1">
                <a:solidFill>
                  <a:srgbClr val="FFFFFF"/>
                </a:solidFill>
              </a:rPr>
              <a:t>Objective:</a:t>
            </a:r>
          </a:p>
          <a:p>
            <a:r>
              <a:rPr lang="en-IN" sz="2000">
                <a:solidFill>
                  <a:srgbClr val="FFFFFF"/>
                </a:solidFill>
              </a:rPr>
              <a:t>Understand the dataset, inspect its quality, clean missing values, remove duplicates, and prepare it for analysis.</a:t>
            </a:r>
          </a:p>
          <a:p>
            <a:r>
              <a:rPr lang="en-IN" sz="2000" b="1">
                <a:solidFill>
                  <a:srgbClr val="FFFFFF"/>
                </a:solidFill>
              </a:rPr>
              <a:t>Work Done:</a:t>
            </a:r>
          </a:p>
          <a:p>
            <a:r>
              <a:rPr lang="en-IN" sz="2000">
                <a:solidFill>
                  <a:srgbClr val="FFFFFF"/>
                </a:solidFill>
              </a:rPr>
              <a:t>Imported and inspected the dataset </a:t>
            </a:r>
          </a:p>
          <a:p>
            <a:r>
              <a:rPr lang="en-IN" sz="2000">
                <a:solidFill>
                  <a:srgbClr val="FFFFFF"/>
                </a:solidFill>
              </a:rPr>
              <a:t>Checked rows, columns, and data types </a:t>
            </a:r>
          </a:p>
          <a:p>
            <a:r>
              <a:rPr lang="en-IN" sz="2000">
                <a:solidFill>
                  <a:srgbClr val="FFFFFF"/>
                </a:solidFill>
              </a:rPr>
              <a:t>Identified missing values and duplicates </a:t>
            </a:r>
          </a:p>
          <a:p>
            <a:r>
              <a:rPr lang="en-IN" sz="2000">
                <a:solidFill>
                  <a:srgbClr val="FFFFFF"/>
                </a:solidFill>
              </a:rPr>
              <a:t>Cleaned the dataset for better quality </a:t>
            </a:r>
          </a:p>
          <a:p>
            <a:r>
              <a:rPr lang="en-IN" sz="2000">
                <a:solidFill>
                  <a:srgbClr val="FFFFFF"/>
                </a:solidFill>
              </a:rPr>
              <a:t>Prepared structured data for further analysis </a:t>
            </a:r>
          </a:p>
          <a:p>
            <a:r>
              <a:rPr lang="en-IN" sz="2000" b="1">
                <a:solidFill>
                  <a:srgbClr val="FFFFFF"/>
                </a:solidFill>
              </a:rPr>
              <a:t>Outcome:</a:t>
            </a:r>
          </a:p>
          <a:p>
            <a:r>
              <a:rPr lang="en-IN" sz="2000">
                <a:solidFill>
                  <a:srgbClr val="FFFFFF"/>
                </a:solidFill>
              </a:rPr>
              <a:t>Built a clean and analysis-ready dataset while learning the importance of preprocessing in analytics projects.</a:t>
            </a:r>
          </a:p>
          <a:p>
            <a:endParaRPr lang="en-IN" sz="2000">
              <a:solidFill>
                <a:srgbClr val="FFFFFF"/>
              </a:solidFill>
            </a:endParaRPr>
          </a:p>
        </p:txBody>
      </p:sp>
    </p:spTree>
    <p:extLst>
      <p:ext uri="{BB962C8B-B14F-4D97-AF65-F5344CB8AC3E}">
        <p14:creationId xmlns:p14="http://schemas.microsoft.com/office/powerpoint/2010/main" val="582833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5" name="Picture 14" descr="Financial graphs on a dark display">
            <a:extLst>
              <a:ext uri="{FF2B5EF4-FFF2-40B4-BE49-F238E27FC236}">
                <a16:creationId xmlns:a16="http://schemas.microsoft.com/office/drawing/2014/main" id="{9F550320-5D57-5923-B10C-2B47883135B1}"/>
              </a:ext>
            </a:extLst>
          </p:cNvPr>
          <p:cNvPicPr>
            <a:picLocks noChangeAspect="1"/>
          </p:cNvPicPr>
          <p:nvPr/>
        </p:nvPicPr>
        <p:blipFill>
          <a:blip r:embed="rId2">
            <a:alphaModFix amt="60000"/>
          </a:blip>
          <a:srcRect t="1000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E0DE403B-EA6C-2394-9E7B-8D6300F9E61E}"/>
              </a:ext>
            </a:extLst>
          </p:cNvPr>
          <p:cNvSpPr>
            <a:spLocks noGrp="1"/>
          </p:cNvSpPr>
          <p:nvPr>
            <p:ph type="title"/>
          </p:nvPr>
        </p:nvSpPr>
        <p:spPr>
          <a:xfrm>
            <a:off x="838199" y="557189"/>
            <a:ext cx="5155263" cy="5571899"/>
          </a:xfrm>
        </p:spPr>
        <p:txBody>
          <a:bodyPr>
            <a:normAutofit/>
          </a:bodyPr>
          <a:lstStyle/>
          <a:p>
            <a:r>
              <a:rPr lang="en-IN">
                <a:solidFill>
                  <a:srgbClr val="FFFFFF"/>
                </a:solidFill>
              </a:rPr>
              <a:t>Task 2 – Exploratory Data Analysis &amp; Business Intelligence</a:t>
            </a:r>
          </a:p>
        </p:txBody>
      </p:sp>
      <p:sp>
        <p:nvSpPr>
          <p:cNvPr id="3" name="Content Placeholder 2">
            <a:extLst>
              <a:ext uri="{FF2B5EF4-FFF2-40B4-BE49-F238E27FC236}">
                <a16:creationId xmlns:a16="http://schemas.microsoft.com/office/drawing/2014/main" id="{AB22E4B7-FC90-5198-C9E2-C913151C510D}"/>
              </a:ext>
            </a:extLst>
          </p:cNvPr>
          <p:cNvSpPr>
            <a:spLocks noGrp="1"/>
          </p:cNvSpPr>
          <p:nvPr>
            <p:ph idx="1"/>
          </p:nvPr>
        </p:nvSpPr>
        <p:spPr>
          <a:xfrm>
            <a:off x="6195375" y="557189"/>
            <a:ext cx="5158424" cy="5571899"/>
          </a:xfrm>
        </p:spPr>
        <p:txBody>
          <a:bodyPr anchor="ctr">
            <a:normAutofit/>
          </a:bodyPr>
          <a:lstStyle/>
          <a:p>
            <a:r>
              <a:rPr lang="en-IN" sz="2000" b="1">
                <a:solidFill>
                  <a:srgbClr val="FFFFFF"/>
                </a:solidFill>
              </a:rPr>
              <a:t>Objective:</a:t>
            </a:r>
          </a:p>
          <a:p>
            <a:r>
              <a:rPr lang="en-IN" sz="2000">
                <a:solidFill>
                  <a:srgbClr val="FFFFFF"/>
                </a:solidFill>
              </a:rPr>
              <a:t>Analyze the cleaned dataset to identify trends, patterns, and business insights.</a:t>
            </a:r>
          </a:p>
          <a:p>
            <a:r>
              <a:rPr lang="en-IN" sz="2000" b="1">
                <a:solidFill>
                  <a:srgbClr val="FFFFFF"/>
                </a:solidFill>
              </a:rPr>
              <a:t>Work Done:</a:t>
            </a:r>
          </a:p>
          <a:p>
            <a:r>
              <a:rPr lang="en-IN" sz="2000">
                <a:solidFill>
                  <a:srgbClr val="FFFFFF"/>
                </a:solidFill>
              </a:rPr>
              <a:t>Generated descriptive statistics </a:t>
            </a:r>
          </a:p>
          <a:p>
            <a:r>
              <a:rPr lang="en-IN" sz="2000">
                <a:solidFill>
                  <a:srgbClr val="FFFFFF"/>
                </a:solidFill>
              </a:rPr>
              <a:t>Performed univariate and bivariate analysis </a:t>
            </a:r>
          </a:p>
          <a:p>
            <a:r>
              <a:rPr lang="en-IN" sz="2000">
                <a:solidFill>
                  <a:srgbClr val="FFFFFF"/>
                </a:solidFill>
              </a:rPr>
              <a:t>Visualized category-wise and segment-wise trends </a:t>
            </a:r>
          </a:p>
          <a:p>
            <a:r>
              <a:rPr lang="en-IN" sz="2000">
                <a:solidFill>
                  <a:srgbClr val="FFFFFF"/>
                </a:solidFill>
              </a:rPr>
              <a:t>Identified meaningful business insights </a:t>
            </a:r>
          </a:p>
          <a:p>
            <a:r>
              <a:rPr lang="en-IN" sz="2000">
                <a:solidFill>
                  <a:srgbClr val="FFFFFF"/>
                </a:solidFill>
              </a:rPr>
              <a:t>Used charts to support analytical observations </a:t>
            </a:r>
          </a:p>
          <a:p>
            <a:r>
              <a:rPr lang="en-IN" sz="2000" b="1">
                <a:solidFill>
                  <a:srgbClr val="FFFFFF"/>
                </a:solidFill>
              </a:rPr>
              <a:t>Outcome:</a:t>
            </a:r>
          </a:p>
          <a:p>
            <a:r>
              <a:rPr lang="en-IN" sz="2000">
                <a:solidFill>
                  <a:srgbClr val="FFFFFF"/>
                </a:solidFill>
              </a:rPr>
              <a:t>Improved my ability to interpret data patterns and transform analysis into business-focused insights.</a:t>
            </a:r>
          </a:p>
          <a:p>
            <a:endParaRPr lang="en-IN" sz="2000">
              <a:solidFill>
                <a:srgbClr val="FFFFFF"/>
              </a:solidFill>
            </a:endParaRPr>
          </a:p>
        </p:txBody>
      </p:sp>
    </p:spTree>
    <p:extLst>
      <p:ext uri="{BB962C8B-B14F-4D97-AF65-F5344CB8AC3E}">
        <p14:creationId xmlns:p14="http://schemas.microsoft.com/office/powerpoint/2010/main" val="4252156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Financial graphs on a dark display">
            <a:extLst>
              <a:ext uri="{FF2B5EF4-FFF2-40B4-BE49-F238E27FC236}">
                <a16:creationId xmlns:a16="http://schemas.microsoft.com/office/drawing/2014/main" id="{16560507-9F39-DCCD-4929-B7E4335EF526}"/>
              </a:ext>
            </a:extLst>
          </p:cNvPr>
          <p:cNvPicPr>
            <a:picLocks noChangeAspect="1"/>
          </p:cNvPicPr>
          <p:nvPr/>
        </p:nvPicPr>
        <p:blipFill>
          <a:blip r:embed="rId2">
            <a:alphaModFix amt="60000"/>
          </a:blip>
          <a:srcRect t="1000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5913EA22-D17C-9AD8-FF80-976A311FCD70}"/>
              </a:ext>
            </a:extLst>
          </p:cNvPr>
          <p:cNvSpPr>
            <a:spLocks noGrp="1"/>
          </p:cNvSpPr>
          <p:nvPr>
            <p:ph type="title"/>
          </p:nvPr>
        </p:nvSpPr>
        <p:spPr>
          <a:xfrm>
            <a:off x="838200" y="557189"/>
            <a:ext cx="4155825" cy="5571898"/>
          </a:xfrm>
        </p:spPr>
        <p:txBody>
          <a:bodyPr>
            <a:normAutofit/>
          </a:bodyPr>
          <a:lstStyle/>
          <a:p>
            <a:r>
              <a:rPr lang="en-IN">
                <a:solidFill>
                  <a:srgbClr val="FFFFFF"/>
                </a:solidFill>
              </a:rPr>
              <a:t>Task 3 – Deep Dive Sales Dashboard</a:t>
            </a:r>
          </a:p>
        </p:txBody>
      </p:sp>
      <p:sp>
        <p:nvSpPr>
          <p:cNvPr id="3" name="Content Placeholder 2">
            <a:extLst>
              <a:ext uri="{FF2B5EF4-FFF2-40B4-BE49-F238E27FC236}">
                <a16:creationId xmlns:a16="http://schemas.microsoft.com/office/drawing/2014/main" id="{675ACA62-B8C9-0F78-3862-3B74EA317E71}"/>
              </a:ext>
            </a:extLst>
          </p:cNvPr>
          <p:cNvSpPr>
            <a:spLocks noGrp="1"/>
          </p:cNvSpPr>
          <p:nvPr>
            <p:ph idx="1"/>
          </p:nvPr>
        </p:nvSpPr>
        <p:spPr>
          <a:xfrm>
            <a:off x="5186552" y="557189"/>
            <a:ext cx="6167246" cy="5571898"/>
          </a:xfrm>
        </p:spPr>
        <p:txBody>
          <a:bodyPr anchor="ctr">
            <a:normAutofit/>
          </a:bodyPr>
          <a:lstStyle/>
          <a:p>
            <a:r>
              <a:rPr lang="en-IN" sz="2000" b="1">
                <a:solidFill>
                  <a:srgbClr val="FFFFFF"/>
                </a:solidFill>
              </a:rPr>
              <a:t>Objective:</a:t>
            </a:r>
          </a:p>
          <a:p>
            <a:r>
              <a:rPr lang="en-IN" sz="2000">
                <a:solidFill>
                  <a:srgbClr val="FFFFFF"/>
                </a:solidFill>
              </a:rPr>
              <a:t>Design and build a dashboard to visualize business performance clearly and interactively.</a:t>
            </a:r>
          </a:p>
          <a:p>
            <a:r>
              <a:rPr lang="en-IN" sz="2000" b="1">
                <a:solidFill>
                  <a:srgbClr val="FFFFFF"/>
                </a:solidFill>
              </a:rPr>
              <a:t>Work Done:</a:t>
            </a:r>
          </a:p>
          <a:p>
            <a:r>
              <a:rPr lang="en-IN" sz="2000">
                <a:solidFill>
                  <a:srgbClr val="FFFFFF"/>
                </a:solidFill>
              </a:rPr>
              <a:t>Planned dashboard layout and KPIs </a:t>
            </a:r>
          </a:p>
          <a:p>
            <a:r>
              <a:rPr lang="en-IN" sz="2000">
                <a:solidFill>
                  <a:srgbClr val="FFFFFF"/>
                </a:solidFill>
              </a:rPr>
              <a:t>Created visualizations for revenue/sales performance </a:t>
            </a:r>
          </a:p>
          <a:p>
            <a:r>
              <a:rPr lang="en-IN" sz="2000">
                <a:solidFill>
                  <a:srgbClr val="FFFFFF"/>
                </a:solidFill>
              </a:rPr>
              <a:t>Highlighted trends by category and region </a:t>
            </a:r>
          </a:p>
          <a:p>
            <a:r>
              <a:rPr lang="en-IN" sz="2000">
                <a:solidFill>
                  <a:srgbClr val="FFFFFF"/>
                </a:solidFill>
              </a:rPr>
              <a:t>Improved clarity of data communication </a:t>
            </a:r>
          </a:p>
          <a:p>
            <a:r>
              <a:rPr lang="en-IN" sz="2000">
                <a:solidFill>
                  <a:srgbClr val="FFFFFF"/>
                </a:solidFill>
              </a:rPr>
              <a:t>Focused on presentation and stakeholder readability </a:t>
            </a:r>
          </a:p>
          <a:p>
            <a:r>
              <a:rPr lang="en-IN" sz="2000" b="1">
                <a:solidFill>
                  <a:srgbClr val="FFFFFF"/>
                </a:solidFill>
              </a:rPr>
              <a:t>Outcome:</a:t>
            </a:r>
          </a:p>
          <a:p>
            <a:r>
              <a:rPr lang="en-IN" sz="2000">
                <a:solidFill>
                  <a:srgbClr val="FFFFFF"/>
                </a:solidFill>
              </a:rPr>
              <a:t>Learned how dashboards help convert raw data into decision-making visuals and business intelligence outputs.</a:t>
            </a:r>
          </a:p>
          <a:p>
            <a:endParaRPr lang="en-IN" sz="2000">
              <a:solidFill>
                <a:srgbClr val="FFFFFF"/>
              </a:solidFill>
            </a:endParaRPr>
          </a:p>
        </p:txBody>
      </p:sp>
    </p:spTree>
    <p:extLst>
      <p:ext uri="{BB962C8B-B14F-4D97-AF65-F5344CB8AC3E}">
        <p14:creationId xmlns:p14="http://schemas.microsoft.com/office/powerpoint/2010/main" val="5702160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n abstract design with lines and financial symbols">
            <a:extLst>
              <a:ext uri="{FF2B5EF4-FFF2-40B4-BE49-F238E27FC236}">
                <a16:creationId xmlns:a16="http://schemas.microsoft.com/office/drawing/2014/main" id="{0BD58290-5FCA-FC8A-A9E2-CD0DED1DB1FA}"/>
              </a:ext>
            </a:extLst>
          </p:cNvPr>
          <p:cNvPicPr>
            <a:picLocks noChangeAspect="1"/>
          </p:cNvPicPr>
          <p:nvPr/>
        </p:nvPicPr>
        <p:blipFill>
          <a:blip r:embed="rId2">
            <a:alphaModFix amt="60000"/>
          </a:blip>
          <a:srcRect t="10400" b="5014"/>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A4E4E61F-9411-C74F-9B44-026B0A72D132}"/>
              </a:ext>
            </a:extLst>
          </p:cNvPr>
          <p:cNvSpPr>
            <a:spLocks noGrp="1"/>
          </p:cNvSpPr>
          <p:nvPr>
            <p:ph type="title"/>
          </p:nvPr>
        </p:nvSpPr>
        <p:spPr>
          <a:xfrm>
            <a:off x="838200" y="557189"/>
            <a:ext cx="4155825" cy="5571898"/>
          </a:xfrm>
        </p:spPr>
        <p:txBody>
          <a:bodyPr>
            <a:normAutofit/>
          </a:bodyPr>
          <a:lstStyle/>
          <a:p>
            <a:r>
              <a:rPr lang="en-IN">
                <a:solidFill>
                  <a:srgbClr val="FFFFFF"/>
                </a:solidFill>
              </a:rPr>
              <a:t>Task 4 – Data Storytelling &amp; Statistical Validation</a:t>
            </a:r>
          </a:p>
        </p:txBody>
      </p:sp>
      <p:sp>
        <p:nvSpPr>
          <p:cNvPr id="3" name="Content Placeholder 2">
            <a:extLst>
              <a:ext uri="{FF2B5EF4-FFF2-40B4-BE49-F238E27FC236}">
                <a16:creationId xmlns:a16="http://schemas.microsoft.com/office/drawing/2014/main" id="{CACF5938-609B-F3A4-D528-8A5F7D13AEFA}"/>
              </a:ext>
            </a:extLst>
          </p:cNvPr>
          <p:cNvSpPr>
            <a:spLocks noGrp="1"/>
          </p:cNvSpPr>
          <p:nvPr>
            <p:ph idx="1"/>
          </p:nvPr>
        </p:nvSpPr>
        <p:spPr>
          <a:xfrm>
            <a:off x="5186552" y="557189"/>
            <a:ext cx="6167246" cy="5571898"/>
          </a:xfrm>
        </p:spPr>
        <p:txBody>
          <a:bodyPr anchor="ctr">
            <a:normAutofit/>
          </a:bodyPr>
          <a:lstStyle/>
          <a:p>
            <a:r>
              <a:rPr lang="en-IN" sz="2000" b="1">
                <a:solidFill>
                  <a:srgbClr val="FFFFFF"/>
                </a:solidFill>
              </a:rPr>
              <a:t>Objective:</a:t>
            </a:r>
          </a:p>
          <a:p>
            <a:r>
              <a:rPr lang="en-IN" sz="2000">
                <a:solidFill>
                  <a:srgbClr val="FFFFFF"/>
                </a:solidFill>
              </a:rPr>
              <a:t>Communicate insights using storytelling and strengthen findings through statistical validation.</a:t>
            </a:r>
          </a:p>
          <a:p>
            <a:r>
              <a:rPr lang="en-IN" sz="2000" b="1">
                <a:solidFill>
                  <a:srgbClr val="FFFFFF"/>
                </a:solidFill>
              </a:rPr>
              <a:t>Work Done:</a:t>
            </a:r>
          </a:p>
          <a:p>
            <a:r>
              <a:rPr lang="en-IN" sz="2000">
                <a:solidFill>
                  <a:srgbClr val="FFFFFF"/>
                </a:solidFill>
              </a:rPr>
              <a:t>Built storytelling visuals around the data </a:t>
            </a:r>
          </a:p>
          <a:p>
            <a:r>
              <a:rPr lang="en-IN" sz="2000">
                <a:solidFill>
                  <a:srgbClr val="FFFFFF"/>
                </a:solidFill>
              </a:rPr>
              <a:t>Interpreted business patterns and changes </a:t>
            </a:r>
          </a:p>
          <a:p>
            <a:r>
              <a:rPr lang="en-IN" sz="2000">
                <a:solidFill>
                  <a:srgbClr val="FFFFFF"/>
                </a:solidFill>
              </a:rPr>
              <a:t>Connected analysis to business questions </a:t>
            </a:r>
          </a:p>
          <a:p>
            <a:r>
              <a:rPr lang="en-IN" sz="2000">
                <a:solidFill>
                  <a:srgbClr val="FFFFFF"/>
                </a:solidFill>
              </a:rPr>
              <a:t>Applied statistical reasoning to validate observations </a:t>
            </a:r>
          </a:p>
          <a:p>
            <a:r>
              <a:rPr lang="en-IN" sz="2000">
                <a:solidFill>
                  <a:srgbClr val="FFFFFF"/>
                </a:solidFill>
              </a:rPr>
              <a:t>Presented insights in a structured and professional way </a:t>
            </a:r>
          </a:p>
          <a:p>
            <a:r>
              <a:rPr lang="en-IN" sz="2000" b="1">
                <a:solidFill>
                  <a:srgbClr val="FFFFFF"/>
                </a:solidFill>
              </a:rPr>
              <a:t>Outcome:</a:t>
            </a:r>
          </a:p>
          <a:p>
            <a:r>
              <a:rPr lang="en-IN" sz="2000">
                <a:solidFill>
                  <a:srgbClr val="FFFFFF"/>
                </a:solidFill>
              </a:rPr>
              <a:t>Understood how storytelling and statistics can work together to make insights more impactful and reliable.</a:t>
            </a:r>
          </a:p>
          <a:p>
            <a:endParaRPr lang="en-IN" sz="2000">
              <a:solidFill>
                <a:srgbClr val="FFFFFF"/>
              </a:solidFill>
            </a:endParaRPr>
          </a:p>
        </p:txBody>
      </p:sp>
    </p:spTree>
    <p:extLst>
      <p:ext uri="{BB962C8B-B14F-4D97-AF65-F5344CB8AC3E}">
        <p14:creationId xmlns:p14="http://schemas.microsoft.com/office/powerpoint/2010/main" val="1483618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75B5124-FC20-DDEA-B158-0C03E42CE8D6}"/>
              </a:ext>
            </a:extLst>
          </p:cNvPr>
          <p:cNvSpPr>
            <a:spLocks noGrp="1"/>
          </p:cNvSpPr>
          <p:nvPr>
            <p:ph type="title"/>
          </p:nvPr>
        </p:nvSpPr>
        <p:spPr>
          <a:xfrm>
            <a:off x="838199" y="388308"/>
            <a:ext cx="7188989" cy="1021424"/>
          </a:xfrm>
        </p:spPr>
        <p:txBody>
          <a:bodyPr anchor="b">
            <a:normAutofit/>
          </a:bodyPr>
          <a:lstStyle/>
          <a:p>
            <a:r>
              <a:rPr lang="en-IN" sz="4000">
                <a:solidFill>
                  <a:schemeClr val="bg1"/>
                </a:solidFill>
              </a:rPr>
              <a:t>Internship Project Repositories</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D2E7DCDD-983D-61B4-2276-98A56F28B711}"/>
              </a:ext>
            </a:extLst>
          </p:cNvPr>
          <p:cNvGraphicFramePr>
            <a:graphicFrameLocks noGrp="1"/>
          </p:cNvGraphicFramePr>
          <p:nvPr>
            <p:ph idx="1"/>
            <p:extLst>
              <p:ext uri="{D42A27DB-BD31-4B8C-83A1-F6EECF244321}">
                <p14:modId xmlns:p14="http://schemas.microsoft.com/office/powerpoint/2010/main" val="671967067"/>
              </p:ext>
            </p:extLst>
          </p:nvPr>
        </p:nvGraphicFramePr>
        <p:xfrm>
          <a:off x="1513227" y="1715407"/>
          <a:ext cx="9165546" cy="4241803"/>
        </p:xfrm>
        <a:graphic>
          <a:graphicData uri="http://schemas.openxmlformats.org/drawingml/2006/table">
            <a:tbl>
              <a:tblPr>
                <a:tableStyleId>{5C22544A-7EE6-4342-B048-85BDC9FD1C3A}</a:tableStyleId>
              </a:tblPr>
              <a:tblGrid>
                <a:gridCol w="1981532">
                  <a:extLst>
                    <a:ext uri="{9D8B030D-6E8A-4147-A177-3AD203B41FA5}">
                      <a16:colId xmlns:a16="http://schemas.microsoft.com/office/drawing/2014/main" val="3506113232"/>
                    </a:ext>
                  </a:extLst>
                </a:gridCol>
                <a:gridCol w="7184014">
                  <a:extLst>
                    <a:ext uri="{9D8B030D-6E8A-4147-A177-3AD203B41FA5}">
                      <a16:colId xmlns:a16="http://schemas.microsoft.com/office/drawing/2014/main" val="1028024578"/>
                    </a:ext>
                  </a:extLst>
                </a:gridCol>
              </a:tblGrid>
              <a:tr h="543119">
                <a:tc>
                  <a:txBody>
                    <a:bodyPr/>
                    <a:lstStyle/>
                    <a:p>
                      <a:pPr>
                        <a:buNone/>
                      </a:pPr>
                      <a:r>
                        <a:rPr lang="en-IN" sz="2500"/>
                        <a:t>Task</a:t>
                      </a:r>
                    </a:p>
                  </a:txBody>
                  <a:tcPr marL="124940" marR="124940" marT="62469" marB="62469" anchor="ctr"/>
                </a:tc>
                <a:tc>
                  <a:txBody>
                    <a:bodyPr/>
                    <a:lstStyle/>
                    <a:p>
                      <a:pPr>
                        <a:buNone/>
                      </a:pPr>
                      <a:r>
                        <a:rPr lang="en-IN" sz="2500"/>
                        <a:t>Repository</a:t>
                      </a:r>
                    </a:p>
                  </a:txBody>
                  <a:tcPr marL="124940" marR="124940" marT="62469" marB="62469" anchor="ctr"/>
                </a:tc>
                <a:extLst>
                  <a:ext uri="{0D108BD9-81ED-4DB2-BD59-A6C34878D82A}">
                    <a16:rowId xmlns:a16="http://schemas.microsoft.com/office/drawing/2014/main" val="2192248260"/>
                  </a:ext>
                </a:extLst>
              </a:tr>
              <a:tr h="924671">
                <a:tc>
                  <a:txBody>
                    <a:bodyPr/>
                    <a:lstStyle/>
                    <a:p>
                      <a:pPr>
                        <a:buNone/>
                      </a:pPr>
                      <a:r>
                        <a:rPr lang="en-IN" sz="2500"/>
                        <a:t>Task 1</a:t>
                      </a:r>
                    </a:p>
                  </a:txBody>
                  <a:tcPr marL="124940" marR="124940" marT="62469" marB="62469" anchor="ctr"/>
                </a:tc>
                <a:tc>
                  <a:txBody>
                    <a:bodyPr/>
                    <a:lstStyle/>
                    <a:p>
                      <a:pPr>
                        <a:buNone/>
                      </a:pPr>
                      <a:r>
                        <a:rPr lang="en-IN" sz="2500">
                          <a:hlinkClick r:id="rId2"/>
                        </a:rPr>
                        <a:t>https://github.com/surendarsathish/Task1-Data-Analytics</a:t>
                      </a:r>
                      <a:endParaRPr lang="en-IN" sz="2500"/>
                    </a:p>
                  </a:txBody>
                  <a:tcPr marL="124940" marR="124940" marT="62469" marB="62469" anchor="ctr"/>
                </a:tc>
                <a:extLst>
                  <a:ext uri="{0D108BD9-81ED-4DB2-BD59-A6C34878D82A}">
                    <a16:rowId xmlns:a16="http://schemas.microsoft.com/office/drawing/2014/main" val="2812380943"/>
                  </a:ext>
                </a:extLst>
              </a:tr>
              <a:tr h="924671">
                <a:tc>
                  <a:txBody>
                    <a:bodyPr/>
                    <a:lstStyle/>
                    <a:p>
                      <a:pPr>
                        <a:buNone/>
                      </a:pPr>
                      <a:r>
                        <a:rPr lang="en-IN" sz="2500"/>
                        <a:t>Task 2</a:t>
                      </a:r>
                    </a:p>
                  </a:txBody>
                  <a:tcPr marL="124940" marR="124940" marT="62469" marB="62469" anchor="ctr"/>
                </a:tc>
                <a:tc>
                  <a:txBody>
                    <a:bodyPr/>
                    <a:lstStyle/>
                    <a:p>
                      <a:pPr>
                        <a:buNone/>
                      </a:pPr>
                      <a:r>
                        <a:rPr lang="en-IN" sz="2500">
                          <a:hlinkClick r:id="rId3"/>
                        </a:rPr>
                        <a:t>https://github.com/surendarsathish/Task2-EDA-Business-Intelligence</a:t>
                      </a:r>
                      <a:endParaRPr lang="en-IN" sz="2500"/>
                    </a:p>
                  </a:txBody>
                  <a:tcPr marL="124940" marR="124940" marT="62469" marB="62469" anchor="ctr"/>
                </a:tc>
                <a:extLst>
                  <a:ext uri="{0D108BD9-81ED-4DB2-BD59-A6C34878D82A}">
                    <a16:rowId xmlns:a16="http://schemas.microsoft.com/office/drawing/2014/main" val="3270838528"/>
                  </a:ext>
                </a:extLst>
              </a:tr>
              <a:tr h="924671">
                <a:tc>
                  <a:txBody>
                    <a:bodyPr/>
                    <a:lstStyle/>
                    <a:p>
                      <a:pPr>
                        <a:buNone/>
                      </a:pPr>
                      <a:r>
                        <a:rPr lang="en-IN" sz="2500"/>
                        <a:t>Task 3</a:t>
                      </a:r>
                    </a:p>
                  </a:txBody>
                  <a:tcPr marL="124940" marR="124940" marT="62469" marB="62469" anchor="ctr"/>
                </a:tc>
                <a:tc>
                  <a:txBody>
                    <a:bodyPr/>
                    <a:lstStyle/>
                    <a:p>
                      <a:pPr>
                        <a:buNone/>
                      </a:pPr>
                      <a:r>
                        <a:rPr lang="en-IN" sz="2500">
                          <a:hlinkClick r:id="rId4"/>
                        </a:rPr>
                        <a:t>https://github.com/surendarsathish/ApexPlanet-Task3-DeepDive-Sales-Dashboard</a:t>
                      </a:r>
                      <a:endParaRPr lang="en-IN" sz="2500"/>
                    </a:p>
                  </a:txBody>
                  <a:tcPr marL="124940" marR="124940" marT="62469" marB="62469" anchor="ctr"/>
                </a:tc>
                <a:extLst>
                  <a:ext uri="{0D108BD9-81ED-4DB2-BD59-A6C34878D82A}">
                    <a16:rowId xmlns:a16="http://schemas.microsoft.com/office/drawing/2014/main" val="1739111890"/>
                  </a:ext>
                </a:extLst>
              </a:tr>
              <a:tr h="924671">
                <a:tc>
                  <a:txBody>
                    <a:bodyPr/>
                    <a:lstStyle/>
                    <a:p>
                      <a:pPr>
                        <a:buNone/>
                      </a:pPr>
                      <a:r>
                        <a:rPr lang="en-IN" sz="2500"/>
                        <a:t>Task 4</a:t>
                      </a:r>
                    </a:p>
                  </a:txBody>
                  <a:tcPr marL="124940" marR="124940" marT="62469" marB="62469" anchor="ctr"/>
                </a:tc>
                <a:tc>
                  <a:txBody>
                    <a:bodyPr/>
                    <a:lstStyle/>
                    <a:p>
                      <a:pPr>
                        <a:buNone/>
                      </a:pPr>
                      <a:r>
                        <a:rPr lang="en-IN" sz="2500">
                          <a:hlinkClick r:id="rId5"/>
                        </a:rPr>
                        <a:t>https://github.com/surendarsathish/Task-4-Data-Storytelling-and-Statistical-Validation</a:t>
                      </a:r>
                      <a:endParaRPr lang="en-IN" sz="2500"/>
                    </a:p>
                  </a:txBody>
                  <a:tcPr marL="124940" marR="124940" marT="62469" marB="62469" anchor="ctr"/>
                </a:tc>
                <a:extLst>
                  <a:ext uri="{0D108BD9-81ED-4DB2-BD59-A6C34878D82A}">
                    <a16:rowId xmlns:a16="http://schemas.microsoft.com/office/drawing/2014/main" val="3604098131"/>
                  </a:ext>
                </a:extLst>
              </a:tr>
            </a:tbl>
          </a:graphicData>
        </a:graphic>
      </p:graphicFrame>
    </p:spTree>
    <p:extLst>
      <p:ext uri="{BB962C8B-B14F-4D97-AF65-F5344CB8AC3E}">
        <p14:creationId xmlns:p14="http://schemas.microsoft.com/office/powerpoint/2010/main" val="2485221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F0DCDA3-730D-5A9D-CC7A-3FA07DBD8A34}"/>
              </a:ext>
            </a:extLst>
          </p:cNvPr>
          <p:cNvSpPr>
            <a:spLocks noGrp="1"/>
          </p:cNvSpPr>
          <p:nvPr>
            <p:ph type="title"/>
          </p:nvPr>
        </p:nvSpPr>
        <p:spPr>
          <a:xfrm>
            <a:off x="630936" y="630936"/>
            <a:ext cx="5465064" cy="5626947"/>
          </a:xfrm>
          <a:noFill/>
        </p:spPr>
        <p:txBody>
          <a:bodyPr anchor="ctr">
            <a:normAutofit/>
          </a:bodyPr>
          <a:lstStyle/>
          <a:p>
            <a:r>
              <a:rPr lang="en-IN" sz="4800" b="1">
                <a:solidFill>
                  <a:schemeClr val="bg1"/>
                </a:solidFill>
              </a:rPr>
              <a:t>Key Skills Demonstrated</a:t>
            </a:r>
            <a:br>
              <a:rPr lang="en-IN" sz="4800" b="1">
                <a:solidFill>
                  <a:schemeClr val="bg1"/>
                </a:solidFill>
              </a:rPr>
            </a:br>
            <a:endParaRPr lang="en-IN" sz="4800">
              <a:solidFill>
                <a:schemeClr val="bg1"/>
              </a:solidFill>
            </a:endParaRPr>
          </a:p>
        </p:txBody>
      </p:sp>
      <p:sp>
        <p:nvSpPr>
          <p:cNvPr id="3" name="Content Placeholder 2">
            <a:extLst>
              <a:ext uri="{FF2B5EF4-FFF2-40B4-BE49-F238E27FC236}">
                <a16:creationId xmlns:a16="http://schemas.microsoft.com/office/drawing/2014/main" id="{B1C81742-06BA-B870-CEAF-BBA480590EB1}"/>
              </a:ext>
            </a:extLst>
          </p:cNvPr>
          <p:cNvSpPr>
            <a:spLocks noGrp="1"/>
          </p:cNvSpPr>
          <p:nvPr>
            <p:ph idx="1"/>
          </p:nvPr>
        </p:nvSpPr>
        <p:spPr>
          <a:xfrm>
            <a:off x="6502152" y="630936"/>
            <a:ext cx="4978592" cy="5626957"/>
          </a:xfrm>
          <a:noFill/>
        </p:spPr>
        <p:txBody>
          <a:bodyPr anchor="ctr">
            <a:normAutofit/>
          </a:bodyPr>
          <a:lstStyle/>
          <a:p>
            <a:r>
              <a:rPr lang="en-IN" sz="1800">
                <a:solidFill>
                  <a:schemeClr val="bg1"/>
                </a:solidFill>
              </a:rPr>
              <a:t>Through this internship, I developed practical skills in:</a:t>
            </a:r>
          </a:p>
          <a:p>
            <a:r>
              <a:rPr lang="en-IN" sz="1800">
                <a:solidFill>
                  <a:schemeClr val="bg1"/>
                </a:solidFill>
              </a:rPr>
              <a:t>Data Cleaning &amp; Preprocessing </a:t>
            </a:r>
          </a:p>
          <a:p>
            <a:r>
              <a:rPr lang="en-IN" sz="1800">
                <a:solidFill>
                  <a:schemeClr val="bg1"/>
                </a:solidFill>
              </a:rPr>
              <a:t>Exploratory Data Analysis </a:t>
            </a:r>
          </a:p>
          <a:p>
            <a:r>
              <a:rPr lang="en-IN" sz="1800">
                <a:solidFill>
                  <a:schemeClr val="bg1"/>
                </a:solidFill>
              </a:rPr>
              <a:t>Business Insight Generation </a:t>
            </a:r>
          </a:p>
          <a:p>
            <a:r>
              <a:rPr lang="en-IN" sz="1800">
                <a:solidFill>
                  <a:schemeClr val="bg1"/>
                </a:solidFill>
              </a:rPr>
              <a:t>Data Visualization </a:t>
            </a:r>
          </a:p>
          <a:p>
            <a:r>
              <a:rPr lang="en-IN" sz="1800">
                <a:solidFill>
                  <a:schemeClr val="bg1"/>
                </a:solidFill>
              </a:rPr>
              <a:t>Dashboard Development </a:t>
            </a:r>
          </a:p>
          <a:p>
            <a:r>
              <a:rPr lang="en-IN" sz="1800">
                <a:solidFill>
                  <a:schemeClr val="bg1"/>
                </a:solidFill>
              </a:rPr>
              <a:t>Storytelling with Data </a:t>
            </a:r>
          </a:p>
          <a:p>
            <a:r>
              <a:rPr lang="en-IN" sz="1800">
                <a:solidFill>
                  <a:schemeClr val="bg1"/>
                </a:solidFill>
              </a:rPr>
              <a:t>Statistical Thinking </a:t>
            </a:r>
          </a:p>
          <a:p>
            <a:r>
              <a:rPr lang="en-IN" sz="1800">
                <a:solidFill>
                  <a:schemeClr val="bg1"/>
                </a:solidFill>
              </a:rPr>
              <a:t>GitHub Documentation </a:t>
            </a:r>
          </a:p>
          <a:p>
            <a:r>
              <a:rPr lang="en-IN" sz="1800">
                <a:solidFill>
                  <a:schemeClr val="bg1"/>
                </a:solidFill>
              </a:rPr>
              <a:t>Analytical Problem Solving </a:t>
            </a:r>
          </a:p>
          <a:p>
            <a:r>
              <a:rPr lang="en-IN" sz="1800">
                <a:solidFill>
                  <a:schemeClr val="bg1"/>
                </a:solidFill>
              </a:rPr>
              <a:t>End-to-End Project Presentation </a:t>
            </a:r>
          </a:p>
          <a:p>
            <a:endParaRPr lang="en-IN" sz="1800">
              <a:solidFill>
                <a:schemeClr val="bg1"/>
              </a:solidFill>
            </a:endParaRPr>
          </a:p>
        </p:txBody>
      </p:sp>
    </p:spTree>
    <p:extLst>
      <p:ext uri="{BB962C8B-B14F-4D97-AF65-F5344CB8AC3E}">
        <p14:creationId xmlns:p14="http://schemas.microsoft.com/office/powerpoint/2010/main" val="3741306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F7366BE-7E85-7B66-6733-39BAFF8A71BA}"/>
              </a:ext>
            </a:extLst>
          </p:cNvPr>
          <p:cNvSpPr>
            <a:spLocks noGrp="1"/>
          </p:cNvSpPr>
          <p:nvPr>
            <p:ph type="title"/>
          </p:nvPr>
        </p:nvSpPr>
        <p:spPr>
          <a:xfrm>
            <a:off x="630936" y="630936"/>
            <a:ext cx="5465064" cy="5626947"/>
          </a:xfrm>
          <a:noFill/>
        </p:spPr>
        <p:txBody>
          <a:bodyPr anchor="ctr">
            <a:normAutofit/>
          </a:bodyPr>
          <a:lstStyle/>
          <a:p>
            <a:r>
              <a:rPr lang="en-IN" sz="4800">
                <a:solidFill>
                  <a:schemeClr val="bg1"/>
                </a:solidFill>
              </a:rPr>
              <a:t>Key Learnings from the Internship</a:t>
            </a:r>
          </a:p>
        </p:txBody>
      </p:sp>
      <p:sp>
        <p:nvSpPr>
          <p:cNvPr id="3" name="Content Placeholder 2">
            <a:extLst>
              <a:ext uri="{FF2B5EF4-FFF2-40B4-BE49-F238E27FC236}">
                <a16:creationId xmlns:a16="http://schemas.microsoft.com/office/drawing/2014/main" id="{9080D136-6B0C-AD94-90D1-185B364051DA}"/>
              </a:ext>
            </a:extLst>
          </p:cNvPr>
          <p:cNvSpPr>
            <a:spLocks noGrp="1"/>
          </p:cNvSpPr>
          <p:nvPr>
            <p:ph idx="1"/>
          </p:nvPr>
        </p:nvSpPr>
        <p:spPr>
          <a:xfrm>
            <a:off x="6502152" y="630936"/>
            <a:ext cx="4978592" cy="5626957"/>
          </a:xfrm>
          <a:noFill/>
        </p:spPr>
        <p:txBody>
          <a:bodyPr anchor="ctr">
            <a:normAutofit/>
          </a:bodyPr>
          <a:lstStyle/>
          <a:p>
            <a:r>
              <a:rPr lang="en-IN" sz="1800">
                <a:solidFill>
                  <a:schemeClr val="bg1"/>
                </a:solidFill>
              </a:rPr>
              <a:t>This internship taught me how to approach data analytics in a structured way — starting from understanding raw data, cleaning it, analyzing patterns, visualizing results, and finally presenting meaningful insights. It also helped me improve my confidence in using Python-based tools and strengthened my ability to document projects professionally through GitHub.</a:t>
            </a:r>
          </a:p>
          <a:p>
            <a:endParaRPr lang="en-IN" sz="1800">
              <a:solidFill>
                <a:schemeClr val="bg1"/>
              </a:solidFill>
            </a:endParaRPr>
          </a:p>
        </p:txBody>
      </p:sp>
    </p:spTree>
    <p:extLst>
      <p:ext uri="{BB962C8B-B14F-4D97-AF65-F5344CB8AC3E}">
        <p14:creationId xmlns:p14="http://schemas.microsoft.com/office/powerpoint/2010/main" val="229241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Digital financial graph">
            <a:extLst>
              <a:ext uri="{FF2B5EF4-FFF2-40B4-BE49-F238E27FC236}">
                <a16:creationId xmlns:a16="http://schemas.microsoft.com/office/drawing/2014/main" id="{E9D28A56-F656-30C1-A13D-5F6E85B8BA40}"/>
              </a:ext>
            </a:extLst>
          </p:cNvPr>
          <p:cNvPicPr>
            <a:picLocks noChangeAspect="1"/>
          </p:cNvPicPr>
          <p:nvPr/>
        </p:nvPicPr>
        <p:blipFill>
          <a:blip r:embed="rId2">
            <a:alphaModFix amt="60000"/>
          </a:blip>
          <a:srcRect/>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38D94014-4AD5-BF0B-0F4F-F5F7854FFA3A}"/>
              </a:ext>
            </a:extLst>
          </p:cNvPr>
          <p:cNvSpPr>
            <a:spLocks noGrp="1"/>
          </p:cNvSpPr>
          <p:nvPr>
            <p:ph type="title"/>
          </p:nvPr>
        </p:nvSpPr>
        <p:spPr>
          <a:xfrm>
            <a:off x="838199" y="557189"/>
            <a:ext cx="5155263" cy="5571899"/>
          </a:xfrm>
        </p:spPr>
        <p:txBody>
          <a:bodyPr>
            <a:normAutofit/>
          </a:bodyPr>
          <a:lstStyle/>
          <a:p>
            <a:r>
              <a:rPr lang="en-IN">
                <a:solidFill>
                  <a:srgbClr val="FFFFFF"/>
                </a:solidFill>
              </a:rPr>
              <a:t>Final Reflection</a:t>
            </a:r>
          </a:p>
        </p:txBody>
      </p:sp>
      <p:sp>
        <p:nvSpPr>
          <p:cNvPr id="3" name="Content Placeholder 2">
            <a:extLst>
              <a:ext uri="{FF2B5EF4-FFF2-40B4-BE49-F238E27FC236}">
                <a16:creationId xmlns:a16="http://schemas.microsoft.com/office/drawing/2014/main" id="{CD7BCF06-F60D-BFDC-7E4D-2673E26C457D}"/>
              </a:ext>
            </a:extLst>
          </p:cNvPr>
          <p:cNvSpPr>
            <a:spLocks noGrp="1"/>
          </p:cNvSpPr>
          <p:nvPr>
            <p:ph idx="1"/>
          </p:nvPr>
        </p:nvSpPr>
        <p:spPr>
          <a:xfrm>
            <a:off x="6195375" y="557189"/>
            <a:ext cx="5158424" cy="5571899"/>
          </a:xfrm>
        </p:spPr>
        <p:txBody>
          <a:bodyPr anchor="ctr">
            <a:normAutofit/>
          </a:bodyPr>
          <a:lstStyle/>
          <a:p>
            <a:r>
              <a:rPr lang="en-IN" sz="2000">
                <a:solidFill>
                  <a:srgbClr val="FFFFFF"/>
                </a:solidFill>
              </a:rPr>
              <a:t>The ApexPlanet Data Analytics Internship was an important step in my learning journey as an aspiring data analyst. It helped me convert theory into practice, improve my technical skills, and build a complete portfolio that reflects my ability to work on real analytics tasks. This internship also strengthened my confidence in data storytelling, dashboard design, and insight communication.</a:t>
            </a:r>
          </a:p>
          <a:p>
            <a:endParaRPr lang="en-IN" sz="2000">
              <a:solidFill>
                <a:srgbClr val="FFFFFF"/>
              </a:solidFill>
            </a:endParaRPr>
          </a:p>
        </p:txBody>
      </p:sp>
    </p:spTree>
    <p:extLst>
      <p:ext uri="{BB962C8B-B14F-4D97-AF65-F5344CB8AC3E}">
        <p14:creationId xmlns:p14="http://schemas.microsoft.com/office/powerpoint/2010/main" val="1182462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19875-DCD0-29F9-D173-C7086DD1A6DA}"/>
              </a:ext>
            </a:extLst>
          </p:cNvPr>
          <p:cNvSpPr>
            <a:spLocks noGrp="1"/>
          </p:cNvSpPr>
          <p:nvPr>
            <p:ph type="title"/>
          </p:nvPr>
        </p:nvSpPr>
        <p:spPr>
          <a:xfrm>
            <a:off x="1043631" y="809898"/>
            <a:ext cx="10173010" cy="1554480"/>
          </a:xfrm>
        </p:spPr>
        <p:txBody>
          <a:bodyPr anchor="ctr">
            <a:normAutofit/>
          </a:bodyPr>
          <a:lstStyle/>
          <a:p>
            <a:r>
              <a:rPr lang="en-IN" sz="4800"/>
              <a:t>Thank You</a:t>
            </a:r>
          </a:p>
        </p:txBody>
      </p:sp>
      <p:cxnSp>
        <p:nvCxnSpPr>
          <p:cNvPr id="40" name="Straight Connector 3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BF9BD4B-0709-788E-F579-5BD59AF2FC03}"/>
              </a:ext>
            </a:extLst>
          </p:cNvPr>
          <p:cNvGraphicFramePr>
            <a:graphicFrameLocks noGrp="1"/>
          </p:cNvGraphicFramePr>
          <p:nvPr>
            <p:ph idx="1"/>
            <p:extLst>
              <p:ext uri="{D42A27DB-BD31-4B8C-83A1-F6EECF244321}">
                <p14:modId xmlns:p14="http://schemas.microsoft.com/office/powerpoint/2010/main" val="497829944"/>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60509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16</TotalTime>
  <Words>730</Words>
  <Application>Microsoft Office PowerPoint</Application>
  <PresentationFormat>Widescreen</PresentationFormat>
  <Paragraphs>104</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Calibri</vt:lpstr>
      <vt:lpstr>Microsoft New Tai Lue</vt:lpstr>
      <vt:lpstr>Times New Roman</vt:lpstr>
      <vt:lpstr>Office Theme</vt:lpstr>
      <vt:lpstr>ApexPlanet Data Analytics Internship Portfolio</vt:lpstr>
      <vt:lpstr>Internship Overview</vt:lpstr>
      <vt:lpstr>Objective of the Capstone Portfolio</vt:lpstr>
      <vt:lpstr>Task 1 – Data Immersion &amp; Wrangling</vt:lpstr>
      <vt:lpstr>Task 2 – Exploratory Data Analysis &amp; Business Intelligence</vt:lpstr>
      <vt:lpstr>Task 3 – Deep Dive Sales Dashboard</vt:lpstr>
      <vt:lpstr>Task 4 – Data Storytelling &amp; Statistical Validation</vt:lpstr>
      <vt:lpstr>Internship Project Repositories</vt:lpstr>
      <vt:lpstr>Key Skills Demonstrated </vt:lpstr>
      <vt:lpstr>Key Learnings from the Internship</vt:lpstr>
      <vt:lpstr>Final Reflection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surendar sathish</dc:creator>
  <cp:lastModifiedBy>surendar sathish</cp:lastModifiedBy>
  <cp:revision>1</cp:revision>
  <dcterms:created xsi:type="dcterms:W3CDTF">2026-06-21T16:18:37Z</dcterms:created>
  <dcterms:modified xsi:type="dcterms:W3CDTF">2026-06-21T16:35:34Z</dcterms:modified>
</cp:coreProperties>
</file>